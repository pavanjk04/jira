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Uber's Real-Time Data Architecture: Engineering At Scale</a:t>
            </a:r>
          </a:p>
          <a:p>
            <a:r>
              <a:t>A deep dive into how Uber processes millions of events per second to power real-time experiences for riders, drivers, and operations teams worldwide – from the data center to the street corner.</a:t>
            </a:r>
          </a:p>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INTRODUCTION</a:t>
            </a:r>
          </a:p>
          <a:p>
            <a:r>
              <a:t>The Challenge of Real-Time Data at Uber's Scale</a:t>
            </a:r>
          </a:p>
          <a:p/>
          <a:p>
            <a:r>
              <a:t>Imagine orchestrating a massive symphony where every musician is a car or a passenger, and every note played is a tiny piece of information. Now, multiply that by millions of simultaneous performances in thousands of cities!</a:t>
            </a:r>
          </a:p>
          <a:p>
            <a:r>
              <a:t>That's essentially the challenge Uber faces every day. Operating in over 10,000 cities with 183 million monthly users, Uber manages millions of trips daily. Each trip generates hundreds of real-time updates: GPS locations, pricing, driver availability, arrival estimates, and payments.</a:t>
            </a:r>
          </a:p>
          <a:p>
            <a:r>
              <a:t>The system must instantly connect riders with drivers, calculate fare changes on the fly, track vehicles precisely, and process payments securely – all within milliseconds. Any tiny hiccup or delay would instantly impact your ride and Uber's operations.</a:t>
            </a:r>
          </a:p>
          <a:p>
            <a:r>
              <a:t>Standard data systems, which update information only once an hour or day, simply can't keep up with this kind of constant, rapid flow. Uber needed to build a unique data platform capable of processing millions of events every second, with almost no delay, while remaining dependable, flexible, and affordable across its global network.</a:t>
            </a:r>
          </a:p>
          <a:p/>
        </p:txBody>
      </p:sp>
      <p:sp>
        <p:nvSpPr>
          <p:cNvPr id="3" name="Subtitle 2"/>
          <p:cNvSpPr>
            <a:spLocks noGrp="1"/>
          </p:cNvSpPr>
          <p:nvPr>
            <p:ph type="subTitle"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ARCHITECTURE OVERVIEW</a:t>
            </a:r>
          </a:p>
          <a:p>
            <a:r>
              <a:t>The Layered Data Architecture</a:t>
            </a:r>
          </a:p>
          <a:p>
            <a:r>
              <a:t>Think of Uber's data architecture like a bustling, interconnected city. Each layer plays a vital role in keeping everything running smoothly, from the roads to the city planning department.</a:t>
            </a:r>
          </a:p>
          <a:p/>
          <a:p/>
          <a:p>
            <a:r>
              <a:t>Data Collection (Traffic Flow)</a:t>
            </a:r>
          </a:p>
          <a:p>
            <a:r>
              <a:t>This layer is like the city's roads and sensors, capturing every piece of raw information — from rider requests to driver locations — as it happens, handling millions per second.</a:t>
            </a:r>
          </a:p>
          <a:p/>
          <a:p/>
          <a:p>
            <a:r>
              <a:t>Real-Time Processing (Traffic Management)</a:t>
            </a:r>
          </a:p>
          <a:p>
            <a:r>
              <a:t>This is the city's control room, instantly analyzing live data to calculate estimated arrival times, detect fraud, and adjust pricing for surge demand, keeping the city moving efficiently.</a:t>
            </a:r>
          </a:p>
          <a:p/>
          <a:p/>
          <a:p>
            <a:r>
              <a:t>Data Storage (City Records)</a:t>
            </a:r>
          </a:p>
          <a:p>
            <a:r>
              <a:t>This acts as the city's memory, securely storing everything. Short-term records are available instantly, while long-term archives inform future planning.</a:t>
            </a:r>
          </a:p>
          <a:p/>
          <a:p/>
          <a:p>
            <a:r>
              <a:t>Data Delivery (City Services)</a:t>
            </a:r>
          </a:p>
          <a:p>
            <a:r>
              <a:t>These are the city's essential services, providing immediate access to processed information. It powers your Uber app, internal dashboards, and fuels learning systems.</a:t>
            </a:r>
          </a:p>
          <a:p/>
          <a:p/>
          <a:p>
            <a:r>
              <a:t>Analytics &amp; ML (City Planning)</a:t>
            </a:r>
          </a:p>
          <a:p>
            <a:r>
              <a:t>This layer is the city's planning department, using all the data to predict demand, optimize routes, and personalize experiences for riders and drivers, shaping the city's future.</a:t>
            </a:r>
          </a:p>
          <a:p/>
        </p:txBody>
      </p:sp>
      <p:sp>
        <p:nvSpPr>
          <p:cNvPr id="3" name="Subtitle 2"/>
          <p:cNvSpPr>
            <a:spLocks noGrp="1"/>
          </p:cNvSpPr>
          <p:nvPr>
            <p:ph type="subTitle"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SYSTEM ARCHITECTURE</a:t>
            </a:r>
          </a:p>
          <a:p>
            <a:r>
              <a:t>Uber's Real-Time Data Architecture: Complete System Flow</a:t>
            </a:r>
          </a:p>
          <a:p>
            <a:r>
              <a:t>Explore the intricate journey of data through Uber's real-time infrastructure, from initial sources to user-facing applications, highlighting key components and latency at each stage.</a:t>
            </a:r>
          </a:p>
          <a:p>
            <a:r>
              <a:t>DATA SOURCES</a:t>
            </a:r>
          </a:p>
          <a:p>
            <a:r>
              <a:t>Rider, driver, sensors, third-party APIs</a:t>
            </a:r>
          </a:p>
          <a:p>
            <a:r>
              <a:t>INGESTION</a:t>
            </a:r>
          </a:p>
          <a:p>
            <a:r>
              <a:t>API Gateway → Kafka → Collectors</a:t>
            </a:r>
          </a:p>
          <a:p>
            <a:r>
              <a:t>STREAM PROCESSING</a:t>
            </a:r>
          </a:p>
          <a:p>
            <a:r>
              <a:t>Real-time engine: H3, matching, pricing, ML</a:t>
            </a:r>
          </a:p>
          <a:p>
            <a:r>
              <a:t>STORAGE &amp; APPS</a:t>
            </a:r>
          </a:p>
          <a:p>
            <a:r>
              <a:t>Hot/Warm/Cold storage → Apps &amp; analytics</a:t>
            </a:r>
          </a:p>
          <a:p/>
        </p:txBody>
      </p:sp>
      <p:sp>
        <p:nvSpPr>
          <p:cNvPr id="3" name="Subtitle 2"/>
          <p:cNvSpPr>
            <a:spLocks noGrp="1"/>
          </p:cNvSpPr>
          <p:nvPr>
            <p:ph type="subTitle"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ARCHITECTURE DEEP DIVE</a:t>
            </a:r>
          </a:p>
          <a:p>
            <a:r>
              <a:t>Architecture Deep Dive: Understanding Each Layer</a:t>
            </a:r>
          </a:p>
          <a:p>
            <a:r>
              <a:t>Let's peel back the layers of Uber's real-time data architecture to understand how each component contributes to a seamlessly efficient, global operation.</a:t>
            </a:r>
          </a:p>
          <a:p/>
          <a:p/>
          <a:p>
            <a:r>
              <a:t>1. Data Sources</a:t>
            </a:r>
          </a:p>
          <a:p>
            <a:r>
              <a:t>Rider App: Every interaction generates data (location, requests).</a:t>
            </a:r>
          </a:p>
          <a:p>
            <a:r>
              <a:t>Driver App: Status updates, availability, trip acceptance.</a:t>
            </a:r>
          </a:p>
          <a:p>
            <a:r>
              <a:t>Sensors &amp; IoT: GPS, traffic, weather, vehicle telemetry.</a:t>
            </a:r>
          </a:p>
          <a:p>
            <a:r>
              <a:t>Third-party APIs: Maps, payments, external services.</a:t>
            </a:r>
          </a:p>
          <a:p>
            <a:r>
              <a:t>Key Point: Millions of these events happen simultaneously across the globe.</a:t>
            </a:r>
          </a:p>
          <a:p/>
          <a:p/>
          <a:p>
            <a:r>
              <a:t>2. Data Ingestion</a:t>
            </a:r>
          </a:p>
          <a:p>
            <a:r>
              <a:t>API Gateway: Securely receives and routes all incoming requests.</a:t>
            </a:r>
          </a:p>
          <a:p>
            <a:r>
              <a:t>Message Queue (Kafka): Buffers incoming data to prevent loss during spikes.</a:t>
            </a:r>
          </a:p>
          <a:p>
            <a:r>
              <a:t>Data Collectors: Standardize and normalize diverse data formats.</a:t>
            </a:r>
          </a:p>
          <a:p>
            <a:r>
              <a:t>Key Point: Ensures data integrity and organization before processing.</a:t>
            </a:r>
          </a:p>
          <a:p/>
          <a:p/>
          <a:p>
            <a:r>
              <a:t>3. Stream Processing</a:t>
            </a:r>
          </a:p>
          <a:p>
            <a:r>
              <a:t>Processing Engine: Analyzes data in real-time as it arrives.</a:t>
            </a:r>
          </a:p>
          <a:p>
            <a:r>
              <a:t>Event Processing: Matches riders/drivers, calculates prices, determines routes.</a:t>
            </a:r>
          </a:p>
          <a:p>
            <a:r>
              <a:t>Aggregation &amp; Windowing: Groups data by time and location (e.g., H3 hexagons).</a:t>
            </a:r>
          </a:p>
          <a:p>
            <a:r>
              <a:t>ML Models: Predicts demand, detects fraud, forecasts traffic.</a:t>
            </a:r>
          </a:p>
          <a:p>
            <a:r>
              <a:t>Key Point: All decisions happen in 10-50 milliseconds—faster than you can blink.</a:t>
            </a:r>
          </a:p>
          <a:p/>
          <a:p/>
          <a:p>
            <a:r>
              <a:t>4. Data Storage</a:t>
            </a:r>
          </a:p>
          <a:p>
            <a:r>
              <a:t>Hot Storage (Redis): Fastest for current, frequently accessed data.</a:t>
            </a:r>
          </a:p>
          <a:p>
            <a:r>
              <a:t>Warm Storage (Cassandra): Recent data (last 24 hours) for quick access.</a:t>
            </a:r>
          </a:p>
          <a:p>
            <a:r>
              <a:t>Cold Storage (S3): Historical data for analytics and machine learning.</a:t>
            </a:r>
          </a:p>
          <a:p>
            <a:r>
              <a:t>Real-time Database: Optimized for instant queries and updates.</a:t>
            </a:r>
          </a:p>
          <a:p>
            <a:r>
              <a:t>Key Point: Different data "temperatures" require optimized storage solutions.</a:t>
            </a:r>
          </a:p>
          <a:p/>
          <a:p/>
          <a:p>
            <a:r>
              <a:t>5. Applications &amp; Use Cases</a:t>
            </a:r>
          </a:p>
          <a:p>
            <a:r>
              <a:t>Rider App: Shows drivers, ETA, pricing, trip status.</a:t>
            </a:r>
          </a:p>
          <a:p>
            <a:r>
              <a:t>Driver App: Trip offers, navigation, earnings, ratings.</a:t>
            </a:r>
          </a:p>
          <a:p>
            <a:r>
              <a:t>Operations Dashboard: Real-time monitoring of system health and demand.</a:t>
            </a:r>
          </a:p>
          <a:p>
            <a:r>
              <a:t>Analytics &amp; Insights: Business intelligence, trend analysis.</a:t>
            </a:r>
          </a:p>
          <a:p>
            <a:r>
              <a:t>Fraud Detection: Identifies and blocks suspicious transactions.</a:t>
            </a:r>
          </a:p>
          <a:p>
            <a:r>
              <a:t>Key Point: All applications benefit from instant, accurate data from the system.</a:t>
            </a:r>
          </a:p>
          <a:p/>
          <a:p>
            <a:r>
              <a:t>Data Journey Example: Rider Request</a:t>
            </a:r>
          </a:p>
          <a:p>
            <a:r>
              <a:t>Follow a single rider's request through Uber's architecture:</a:t>
            </a:r>
          </a:p>
          <a:p/>
          <a:p/>
          <a:p>
            <a:r>
              <a:t>1. Rider opens app in NYC: Location sent to API Gateway.</a:t>
            </a:r>
          </a:p>
          <a:p/>
          <a:p/>
          <a:p>
            <a:r>
              <a:t>2. Data enters Kafka queue: Ensures reliable ingestion.</a:t>
            </a:r>
          </a:p>
          <a:p/>
          <a:p/>
          <a:p>
            <a:r>
              <a:t>3. Stream processor receives data: Analyzes location + demand.</a:t>
            </a:r>
          </a:p>
          <a:p/>
          <a:p/>
          <a:p>
            <a:r>
              <a:t>4. H3 system identifies: Rider's precise geographic hexagon.</a:t>
            </a:r>
          </a:p>
          <a:p/>
          <a:p/>
          <a:p>
            <a:r>
              <a:t>5. Matching algorithm: Searches for the nearest available driver.</a:t>
            </a:r>
          </a:p>
          <a:p/>
          <a:p/>
          <a:p>
            <a:r>
              <a:t>6. Pricing engine: Calculates surge pricing based on real-time demand.</a:t>
            </a:r>
          </a:p>
          <a:p/>
          <a:p/>
          <a:p>
            <a:r>
              <a:t>7. Results stored in Redis: Hot storage for instant access.</a:t>
            </a:r>
          </a:p>
          <a:p/>
          <a:p/>
          <a:p>
            <a:r>
              <a:t>8. Rider app receives match: Driver match in less than 200ms.</a:t>
            </a:r>
          </a:p>
          <a:p/>
          <a:p/>
          <a:p>
            <a:r>
              <a:t>9. Driver app notified: Receives trip details.</a:t>
            </a:r>
          </a:p>
          <a:p/>
          <a:p/>
          <a:p>
            <a:r>
              <a:t>10. Trip data archived: Sent to cold storage for future analytics.</a:t>
            </a:r>
          </a:p>
          <a:p/>
          <a:p>
            <a:r>
              <a:t>Why This Architecture Matters</a:t>
            </a:r>
          </a:p>
          <a:p/>
          <a:p>
            <a:r>
              <a:t>Speed</a:t>
            </a:r>
          </a:p>
          <a:p>
            <a:r>
              <a:t>Decisions made in milliseconds, not hours, for instant user experiences.</a:t>
            </a:r>
          </a:p>
          <a:p/>
          <a:p>
            <a:r>
              <a:t>Reliability</a:t>
            </a:r>
          </a:p>
          <a:p>
            <a:r>
              <a:t>No data loss, even during peak loads or system failures.</a:t>
            </a:r>
          </a:p>
          <a:p/>
          <a:p>
            <a:r>
              <a:t>Scalability</a:t>
            </a:r>
          </a:p>
          <a:p>
            <a:r>
              <a:t>Handles millions of events per second and grows with demand.</a:t>
            </a:r>
          </a:p>
          <a:p/>
          <a:p>
            <a:r>
              <a:t>Flexibility</a:t>
            </a:r>
          </a:p>
          <a:p>
            <a:r>
              <a:t>Easy to integrate new features and support evolving use cases.</a:t>
            </a:r>
          </a:p>
          <a:p/>
          <a:p>
            <a:r>
              <a:t>Cost-Effective</a:t>
            </a:r>
          </a:p>
          <a:p>
            <a:r>
              <a:t>Tiered storage and efficient processing reduce operational expenses.</a:t>
            </a:r>
          </a:p>
          <a:p/>
          <a:p>
            <a:r>
              <a:t>Technologies Behind Uber's Real-Time Architecture</a:t>
            </a:r>
          </a:p>
          <a:p>
            <a:r>
              <a:t>Data Ingestion &amp; Streaming</a:t>
            </a:r>
          </a:p>
          <a:p>
            <a:r>
              <a:t>Apache Kafka: Distributed message broker for handling millions of events per second</a:t>
            </a:r>
          </a:p>
          <a:p>
            <a:r>
              <a:t>gRPC: High-performance RPC framework for inter-service communication</a:t>
            </a:r>
          </a:p>
          <a:p>
            <a:r>
              <a:t>Protocol Buffers: Efficient data serialization format</a:t>
            </a:r>
          </a:p>
          <a:p>
            <a:r>
              <a:t>Stream Processing</a:t>
            </a:r>
          </a:p>
          <a:p>
            <a:r>
              <a:t>Apache Flink: Real-time stream processing engine for complex event processing</a:t>
            </a:r>
          </a:p>
          <a:p>
            <a:r>
              <a:t>Apache Spark Streaming: Batch and stream processing</a:t>
            </a:r>
          </a:p>
          <a:p>
            <a:r>
              <a:t>Uber's custom frameworks: Built on top of open-source tools for specific needs</a:t>
            </a:r>
          </a:p>
          <a:p>
            <a:r>
              <a:t>Data Storage</a:t>
            </a:r>
          </a:p>
          <a:p>
            <a:r>
              <a:t>Redis: In-memory data store for hot storage (sub-millisecond latency)</a:t>
            </a:r>
          </a:p>
          <a:p>
            <a:r>
              <a:t>Apache Cassandra: Distributed NoSQL database for warm storage (high throughput, fault-tolerant)</a:t>
            </a:r>
          </a:p>
          <a:p>
            <a:r>
              <a:t>Amazon S3 / HDFS: Object storage for cold storage (historical data, archives)</a:t>
            </a:r>
          </a:p>
          <a:p>
            <a:r>
              <a:t>Elasticsearch: Full-text search and analytics for logs and events</a:t>
            </a:r>
          </a:p>
          <a:p>
            <a:r>
              <a:t>Databases &amp; Query Engines</a:t>
            </a:r>
          </a:p>
          <a:p>
            <a:r>
              <a:t>Uber's Ringpop: Distributed hash ring for consistent hashing</a:t>
            </a:r>
          </a:p>
          <a:p>
            <a:r>
              <a:t>Uber's Schemaless: Custom database for flexible, scalable data storage</a:t>
            </a:r>
          </a:p>
          <a:p>
            <a:r>
              <a:t>Presto: Distributed SQL query engine for analytics</a:t>
            </a:r>
          </a:p>
          <a:p>
            <a:r>
              <a:t>Machine Learning &amp; Analytics</a:t>
            </a:r>
          </a:p>
          <a:p>
            <a:r>
              <a:t>TensorFlow / PyTorch: Deep learning frameworks for demand prediction and fraud detection</a:t>
            </a:r>
          </a:p>
          <a:p>
            <a:r>
              <a:t>Uber's Michelangelo: ML platform for building, deploying, and managing ML models at scale</a:t>
            </a:r>
          </a:p>
          <a:p>
            <a:r>
              <a:t>Apache Spark MLlib: Machine learning library for large-scale ML</a:t>
            </a:r>
          </a:p>
          <a:p>
            <a:r>
              <a:t>Monitoring &amp; Observability</a:t>
            </a:r>
          </a:p>
          <a:p>
            <a:r>
              <a:t>Uber's Ringpop: Service discovery and health checking</a:t>
            </a:r>
          </a:p>
          <a:p>
            <a:r>
              <a:t>Prometheus: Metrics collection and monitoring</a:t>
            </a:r>
          </a:p>
          <a:p>
            <a:r>
              <a:t>Jaeger: Distributed tracing for debugging and performance analysis</a:t>
            </a:r>
          </a:p>
          <a:p>
            <a:r>
              <a:t>ELK Stack (Elasticsearch, Logstash, Kibana): Log aggregation and analysis</a:t>
            </a:r>
          </a:p>
          <a:p>
            <a:r>
              <a:t>Infrastructure &amp; Deployment</a:t>
            </a:r>
          </a:p>
          <a:p>
            <a:r>
              <a:t>Kubernetes: Container orchestration for managing microservices</a:t>
            </a:r>
          </a:p>
          <a:p>
            <a:r>
              <a:t>Docker: Containerization for consistent deployment</a:t>
            </a:r>
          </a:p>
          <a:p>
            <a:r>
              <a:t>Uber's Uberflow: Custom workflow orchestration system</a:t>
            </a:r>
          </a:p>
          <a:p>
            <a:r>
              <a:t>These technologies work together seamlessly to process millions of events per second with sub-200ms latency, ensuring reliability, scalability, and performance at global scale.</a:t>
            </a:r>
          </a:p>
          <a:p/>
        </p:txBody>
      </p:sp>
      <p:sp>
        <p:nvSpPr>
          <p:cNvPr id="3" name="Subtitle 2"/>
          <p:cNvSpPr>
            <a:spLocks noGrp="1"/>
          </p:cNvSpPr>
          <p:nvPr>
            <p:ph type="subTitle" idx="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CORE TECHNOLOGY</a:t>
            </a:r>
          </a:p>
          <a:p>
            <a:r>
              <a:t>Apache Kafka: The Nervous System of Uber's Data Platform</a:t>
            </a:r>
          </a:p>
          <a:p>
            <a:r>
              <a:t>Imagine Uber's operations as a vast network of interconnected systems, like the human body. Apache Kafka acts as the central nervous system, relaying critical information – every ride request, driver location, and payment transaction – across the entire organization in real time. It's the technology that ensures all parts of Uber's digital city communicate instantly and reliably.</a:t>
            </a:r>
          </a:p>
          <a:p>
            <a:r>
              <a:t>Deliver</a:t>
            </a:r>
          </a:p>
          <a:p>
            <a:r>
              <a:t>Stream</a:t>
            </a:r>
          </a:p>
          <a:p>
            <a:r>
              <a:t>Capture</a:t>
            </a:r>
          </a:p>
          <a:p>
            <a:r>
              <a:t>This allows different services to seamlessly "talk" to each other without complex direct connections. For instance, a rider requesting a trip (a "producer") sends a message into Kafka. The system instantly routes this message to various "consumers" – like the driver dispatch system, the ETA calculator, and fraud detection algorithms – all without the rider's app needing to know about each one individually.</a:t>
            </a:r>
          </a:p>
          <a:p/>
          <a:p>
            <a:r>
              <a:t>Speed</a:t>
            </a:r>
          </a:p>
          <a:p>
            <a:r>
              <a:t>Handles millions of messages per second with minimal delay, crucial for real-time pricing and ride matching.</a:t>
            </a:r>
          </a:p>
          <a:p/>
          <a:p>
            <a:r>
              <a:t>Reliability</a:t>
            </a:r>
          </a:p>
          <a:p>
            <a:r>
              <a:t>Ensures no data is lost, even during system outages, by safely storing and replicating every piece of information.</a:t>
            </a:r>
          </a:p>
          <a:p/>
          <a:p>
            <a:r>
              <a:t>Scalability</a:t>
            </a:r>
          </a:p>
          <a:p>
            <a:r>
              <a:t>Grows effortlessly with Uber's expanding data volume, allowing more rides and users without performance drops.</a:t>
            </a:r>
          </a:p>
          <a:p/>
          <a:p>
            <a:r>
              <a:t>Flexibility</a:t>
            </a:r>
          </a:p>
          <a:p>
            <a:r>
              <a:t>Decouples different services, allowing teams to innovate and deploy updates independently.</a:t>
            </a:r>
          </a:p>
          <a:p/>
          <a:p>
            <a:r>
              <a:t>Key Impact: Uber's Kafka clusters process over 1 trillion messages daily, supporting critical functions from dispatching rides to powering predictive AI models, with peak throughput exceeding 10 million messages per second during busy hours.</a:t>
            </a:r>
          </a:p>
          <a:p>
            <a:r>
              <a:t>Kafka is engineered to handle massive amounts of real-time data, like a constant news broadcast for all of Uber's systems. This allows for instant updates across the platform, from showing you the exact location of your driver to instantly processing your payment. This constant, reliable flow of information is what enables Uber to deliver a smooth and responsive experience for millions of users worldwide.</a:t>
            </a:r>
          </a:p>
          <a:p/>
        </p:txBody>
      </p:sp>
      <p:sp>
        <p:nvSpPr>
          <p:cNvPr id="3" name="Subtitle 2"/>
          <p:cNvSpPr>
            <a:spLocks noGrp="1"/>
          </p:cNvSpPr>
          <p:nvPr>
            <p:ph type="subTitle"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GEOSPATIAL INNOVATION</a:t>
            </a:r>
          </a:p>
          <a:p>
            <a:r>
              <a:t>H3: The Honeycomb City – Dividing the World into Smart Hexagons</a:t>
            </a:r>
          </a:p>
          <a:p>
            <a:r>
              <a:t>Imagine if you could divide the entire Earth into perfectly organized honeycomb-shaped pieces, like a beehive stretched across the globe. That's exactly what Uber's H3 (Hexagonal Hierarchical Spatial Index) does – and it's one of the most clever innovations powering your ride.</a:t>
            </a:r>
          </a:p>
          <a:p>
            <a:r>
              <a:t>Street-Level Cells</a:t>
            </a:r>
          </a:p>
          <a:p>
            <a:r>
              <a:t>Small hexes for fine-grained data</a:t>
            </a:r>
          </a:p>
          <a:p>
            <a:r>
              <a:t>City-Block Level</a:t>
            </a:r>
          </a:p>
          <a:p>
            <a:r>
              <a:t>Large hexes covering neighborhoods</a:t>
            </a:r>
          </a:p>
          <a:p>
            <a:r>
              <a:t>H3 Core</a:t>
            </a:r>
          </a:p>
          <a:p>
            <a:r>
              <a:t>Hexagonal spatial indexing system</a:t>
            </a:r>
          </a:p>
          <a:p>
            <a:r>
              <a:t>Why Hexagons? The Honeybee's Secret</a:t>
            </a:r>
          </a:p>
          <a:p>
            <a:r>
              <a:t>Bees are nature's master architects, and Uber learned from them. Hexagons are superior to squares or triangles because:</a:t>
            </a:r>
          </a:p>
          <a:p>
            <a:r>
              <a:t>Equal Distance to Neighbors: Every center point of a hexagon is the same distance from all six neighbors, making calculations fair and accurate.</a:t>
            </a:r>
          </a:p>
          <a:p>
            <a:r>
              <a:t>No Empty Spaces: Hexagons fit together perfectly without gaps, covering every inch of a city.</a:t>
            </a:r>
          </a:p>
          <a:p>
            <a:r>
              <a:t>Natural Fit: They better represent real-world areas and minimize distortion, especially near Earth's poles.</a:t>
            </a:r>
          </a:p>
          <a:p>
            <a:r>
              <a:t>Efficient Analysis: Perfect for understanding patterns like where riders are waiting or traffic is building up.</a:t>
            </a:r>
          </a:p>
          <a:p>
            <a:r>
              <a:t>How It Works: Your City as a Honeycomb</a:t>
            </a:r>
          </a:p>
          <a:p>
            <a:r>
              <a:t>Think of your city divided into thousands of hexagonal "cells" of different sizes:</a:t>
            </a:r>
          </a:p>
          <a:p>
            <a:r>
              <a:t>Zoom Out: Large hexagons show entire neighborhoods – great for planning driver availability across a region.</a:t>
            </a:r>
          </a:p>
          <a:p>
            <a:r>
              <a:t>Zoom In: Tiny hexagons pinpoint individual street corners – perfect for knowing exactly where to pick you up.</a:t>
            </a:r>
          </a:p>
          <a:p>
            <a:r>
              <a:t>Smart Grouping: Smaller hexagons nest inside larger ones, creating a hierarchy like folders on your computer.</a:t>
            </a:r>
          </a:p>
          <a:p>
            <a:r>
              <a:t>Unique IDs: Every hexagon gets a unique code, making it lightning-fast to find patterns and make decisions.</a:t>
            </a:r>
          </a:p>
          <a:p/>
          <a:p>
            <a:r>
              <a:t>Dynamic Pricing (Surge)</a:t>
            </a:r>
          </a:p>
          <a:p>
            <a:r>
              <a:t>H3 analyzes demand in each hexagon. If a concert just ended, that specific area's hexagons light up with high demand, triggering smart price adjustments only where needed – not the entire city.</a:t>
            </a:r>
          </a:p>
          <a:p/>
          <a:p>
            <a:r>
              <a:t>Optimal Driver Positioning</a:t>
            </a:r>
          </a:p>
          <a:p>
            <a:r>
              <a:t>The system identifies which hexagons will have high demand in the next 10 minutes and suggests drivers move there proactively, reducing wait times for everyone.</a:t>
            </a:r>
          </a:p>
          <a:p/>
          <a:p>
            <a:r>
              <a:t>Precise ETAs</a:t>
            </a:r>
          </a:p>
          <a:p>
            <a:r>
              <a:t>By tracking how long trips take between specific hexagons at different times, Uber predicts your arrival time with remarkable accuracy.</a:t>
            </a:r>
          </a:p>
          <a:p/>
          <a:p>
            <a:r>
              <a:t>Geofencing Made Simple</a:t>
            </a:r>
          </a:p>
          <a:p>
            <a:r>
              <a:t>Airport pickup zones, restricted areas, and service boundaries are defined by groups of hexagons, making them easy to update and enforce.</a:t>
            </a:r>
          </a:p>
          <a:p/>
          <a:p>
            <a:r>
              <a:t>Real-World Impact: During a major event like a stadium concert, H3 allows Uber to monitor demand at 15 different resolution levels simultaneously – from the entire stadium district down to individual entry gates – adjusting in real-time to get everyone home safely and efficiently.</a:t>
            </a:r>
          </a:p>
          <a:p>
            <a:r>
              <a:t>This honeycomb approach, open-sourced by Uber for anyone to use, transforms how we understand and organize geographic information, making Uber's marketplace intelligent enough to anticipate your needs before you even open the app.</a:t>
            </a:r>
          </a:p>
          <a:p/>
        </p:txBody>
      </p:sp>
      <p:sp>
        <p:nvSpPr>
          <p:cNvPr id="3" name="Subtitle 2"/>
          <p:cNvSpPr>
            <a:spLocks noGrp="1"/>
          </p:cNvSpPr>
          <p:nvPr>
            <p:ph type="subTitle" idx="1"/>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GEOSPATIAL INNOVATION</a:t>
            </a:r>
          </a:p>
          <a:p>
            <a:r>
              <a:t>H3 Hexagons Explained: Think of Your City as a Honeycomb</a:t>
            </a:r>
          </a:p>
          <a:p>
            <a:r>
              <a:t>Uber's H3 system divides the world into a vast, organized grid of hexagonal cells. Imagine your entire city, from every street corner to every park, covered in these perfectly interlocking honeycombs. This smart grid helps Uber understand and optimize movement across urban landscapes like never before.</a:t>
            </a:r>
          </a:p>
          <a:p>
            <a:r>
              <a:t>Why Hexagons Beat Squares: The Geometry Lesson</a:t>
            </a:r>
          </a:p>
          <a:p>
            <a:r>
              <a:t>The Gap Problem with Squares</a:t>
            </a:r>
          </a:p>
          <a:p>
            <a:r>
              <a:t>When you try to cover a curved surface, like our Earth, with square tiles, you run into a problem: they don't fit perfectly. Imagine trying to wrap a basketball with square tiles – you'll inevitably end up with awkward gaps at the corners and frustrating overlaps at the edges. This creates inaccuracies when trying to analyze data or define locations, as a single point might fall into a gap or ambiguously belong to multiple squares.</a:t>
            </a:r>
          </a:p>
          <a:p>
            <a:r>
              <a:t>Why Hexagons Are Perfect</a:t>
            </a:r>
          </a:p>
          <a:p>
            <a:r>
              <a:t>Unlike squares, hexagons are nature's design for perfect tessellation – meaning they fit together with zero gaps and zero overlaps. Think of a honeycomb in a beehive, or the patterns on a soccer ball; everything fits perfectly. This is crucial for consistent data analysis. What's more, every hexagon has six immediate neighbors, and the distance from the center of any hexagon to the center of any of its neighbors is always equal. This property ensures fair and accurate calculations for all areas, regardless of their position on the grid.</a:t>
            </a:r>
          </a:p>
          <a:p>
            <a:r>
              <a:t>Real-World Impact on Uber's System</a:t>
            </a:r>
          </a:p>
          <a:p>
            <a:r>
              <a:t>This geometric advantage has a significant impact on Uber's operations. For example, with a square grid, a rider standing exactly at the corner of four squares might be ambiguously assigned to the wrong zone, leading to inefficient matching or pricing. With hexagons, every single location clearly and unequivocally belongs to exactly one hexagon, eliminating ambiguity. This precision is vital when calculating distances between zones or predicting demand, as hexagons provide consistent, accurate results every time, making the entire system more reliable and efficient.</a:t>
            </a:r>
          </a:p>
          <a:p>
            <a:r>
              <a:t>Square Grid</a:t>
            </a:r>
          </a:p>
          <a:p>
            <a:r>
              <a:t>Hexagonal Grid</a:t>
            </a:r>
          </a:p>
          <a:p>
            <a:r>
              <a:t>Clear point inside cell</a:t>
            </a:r>
          </a:p>
          <a:p>
            <a:r>
              <a:t>Perfect tessellation</a:t>
            </a:r>
          </a:p>
          <a:p>
            <a:r>
              <a:t>Ambiguous point assignment</a:t>
            </a:r>
          </a:p>
          <a:p>
            <a:r>
              <a:t>Gap problem at corners</a:t>
            </a:r>
          </a:p>
          <a:p/>
        </p:txBody>
      </p:sp>
      <p:sp>
        <p:nvSpPr>
          <p:cNvPr id="3" name="Subtitle 2"/>
          <p:cNvSpPr>
            <a:spLocks noGrp="1"/>
          </p:cNvSpPr>
          <p:nvPr>
            <p:ph type="subTitle"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Real-World Impact: The Concert Rush</a:t>
            </a:r>
          </a:p>
          <a:p>
            <a:r>
              <a:t>Consider a large concert letting out at a stadium. H3's dynamic grid helps Uber manage this surge in real-time:</a:t>
            </a:r>
          </a:p>
          <a:p/>
          <a:p>
            <a:r>
              <a:t>Event Detection</a:t>
            </a:r>
          </a:p>
          <a:p>
            <a:r>
              <a:t>The H3 system recognizes the stadium area as a collection of hexagons. As the concert nears its end, sensors and predicted activity signal an upcoming surge.</a:t>
            </a:r>
          </a:p>
          <a:p/>
          <a:p>
            <a:r>
              <a:t>Demand Surge</a:t>
            </a:r>
          </a:p>
          <a:p>
            <a:r>
              <a:t>Specific hexagons around the stadium quickly "light up" in orange or red, indicating a massive spike in ride requests. Other areas remain 'blue' for low demand.</a:t>
            </a:r>
          </a:p>
          <a:p/>
          <a:p>
            <a:r>
              <a:t>Driver Deployment</a:t>
            </a:r>
          </a:p>
          <a:p>
            <a:r>
              <a:t>Uber's platform uses this H3 data to instantly direct available drivers to these high-demand hexagons, minimizing passenger wait times and ensuring efficient pickups.</a:t>
            </a:r>
          </a:p>
          <a:p/>
          <a:p>
            <a:r>
              <a:t>Smart Pricing</a:t>
            </a:r>
          </a:p>
          <a:p>
            <a:r>
              <a:t>Pricing adjustments are localized to just those specific high-demand hexagons, rather than the entire city, making surge pricing fairer and more targeted.</a:t>
            </a:r>
          </a:p>
          <a:p>
            <a:r>
              <a:t>This intelligent, hexagon-based approach ensures that whether you're at a major event or just heading home, Uber can efficiently connect you with a ride, making urban mobility smarter and more responsive.</a:t>
            </a:r>
          </a:p>
          <a:p/>
        </p:txBody>
      </p:sp>
      <p:sp>
        <p:nvSpPr>
          <p:cNvPr id="3" name="Subtitle 2"/>
          <p:cNvSpPr>
            <a:spLocks noGrp="1"/>
          </p:cNvSpPr>
          <p:nvPr>
            <p:ph type="subTitle"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GEOSPATIAL TECHNOLOGY</a:t>
            </a:r>
          </a:p>
          <a:p>
            <a:r>
              <a:t>H3 Geospatial Index: Architecture, Technology &amp; Real-World Implementation</a:t>
            </a:r>
          </a:p>
          <a:p>
            <a:r>
              <a:t>Understanding Uber's H3 system requires delving into its core architecture, the technologies that power it, and its practical application across Uber's ecosystem. This section provides a comprehensive technical overview, illustrating how raw location data is transformed into actionable intelligence.</a:t>
            </a:r>
          </a:p>
          <a:p>
            <a:r>
              <a:t>H3 System Architecture Overview</a:t>
            </a:r>
          </a:p>
          <a:p>
            <a:r>
              <a:t>INPUT LAYER</a:t>
            </a:r>
          </a:p>
          <a:p>
            <a:r>
              <a:t>H3 INDEXING LAYER</a:t>
            </a:r>
          </a:p>
          <a:p>
            <a:r>
              <a:t>PROCESSING LAYER</a:t>
            </a:r>
          </a:p>
          <a:p>
            <a:r>
              <a:t>OUTPUT LAYER</a:t>
            </a:r>
          </a:p>
          <a:p>
            <a:r>
              <a:t>H3 Resolution Levels</a:t>
            </a:r>
          </a:p>
          <a:p>
            <a:r>
              <a:t>The H3 grid offers 16 discrete resolution levels (0-15), allowing for extreme flexibility in geospatial analysis. Each resolution represents a different spatial granularity, from global coverage to pinpoint accuracy:</a:t>
            </a:r>
          </a:p>
          <a:p/>
          <a:p>
            <a:r>
              <a:t>Resolution 0: Global</a:t>
            </a:r>
          </a:p>
          <a:p>
            <a:r>
              <a:t>Entire Earth (122 hexagons), providing a broad global overview.</a:t>
            </a:r>
          </a:p>
          <a:p/>
          <a:p>
            <a:r>
              <a:t>Resolution 5: City-Level</a:t>
            </a:r>
          </a:p>
          <a:p>
            <a:r>
              <a:t>Hexagons approximately 1-10 km across, ideal for city-wide planning and analysis.</a:t>
            </a:r>
          </a:p>
          <a:p/>
          <a:p>
            <a:r>
              <a:t>Resolution 10: Neighborhood-Level</a:t>
            </a:r>
          </a:p>
          <a:p>
            <a:r>
              <a:t>Hexagons around 100m across, perfect for detailed neighborhood insights.</a:t>
            </a:r>
          </a:p>
          <a:p/>
          <a:p>
            <a:r>
              <a:t>Resolution 15: Street-Level</a:t>
            </a:r>
          </a:p>
          <a:p>
            <a:r>
              <a:t>Hexagons approximately 1m across, offering ultra-fine granularity for precise location services.</a:t>
            </a:r>
          </a:p>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