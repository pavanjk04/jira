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NEXT-GEN AI</a:t>
            </a:r>
          </a:p>
          <a:p>
            <a:r>
              <a:t>Agentic AI: The Autonomous Decision-Makers of Tomorrow</a:t>
            </a:r>
          </a:p>
          <a:p>
            <a:r>
              <a:t>Imagine having thousands of intelligent assistants working 24/7, each capable of understanding complex problems, making smart decisions, and taking action without constant supervision. That's Agentic AI – Uber's revolutionary leap from simple automation to true artificial intelligence that thinks, adapts, and collaborates.</a:t>
            </a:r>
          </a:p>
          <a:p>
            <a:r>
              <a:t>What Makes Agentic AI Different?</a:t>
            </a:r>
          </a:p>
          <a:p>
            <a:r>
              <a:t>Traditional AI follows strict rules: "If this happens, do that." Agentic AI is fundamentally smarter:</a:t>
            </a:r>
          </a:p>
          <a:p>
            <a:r>
              <a:t>Goal-Driven Autonomy: Like a skilled employee, it understands the objective and figures out the best way to achieve it, adapting as circumstances change.</a:t>
            </a:r>
          </a:p>
          <a:p>
            <a:r>
              <a:t>Multi-Agent Collaboration: Specialized AI agents work together like departments in a company – one handles customer queries, another optimizes routing, a third detects fraud – all coordinating seamlessly.</a:t>
            </a:r>
          </a:p>
          <a:p>
            <a:r>
              <a:t>Self-Healing Systems: When problems arise, agents can diagnose issues, adjust their approach, and recover automatically without human intervention.</a:t>
            </a:r>
          </a:p>
          <a:p>
            <a:r>
              <a:t>Continuous Learning: Every interaction makes the system smarter, refining decisions and improving outcomes over time.</a:t>
            </a:r>
          </a:p>
          <a:p>
            <a:r>
              <a:t>How Uber Uses Agentic AI Today</a:t>
            </a:r>
          </a:p>
          <a:p>
            <a:r>
              <a:t>Intelligent Customer Support: AI agents understand your issue, investigate automatically, suggest empathetic responses, and even translate complex policies into simple solutions – all in seconds.</a:t>
            </a:r>
          </a:p>
          <a:p>
            <a:r>
              <a:t>Autonomous Workflow Orchestration: When a trip issue occurs (wrong route, toll charge), agents analyze what happened, determine fair resolutions, and communicate with both rider and driver without human oversight.</a:t>
            </a:r>
          </a:p>
          <a:p>
            <a:r>
              <a:t>Real-Time Marketplace Optimization: Agents continuously balance supply and demand across thousands of city hexagons, adjusting pricing, driver incentives, and positioning recommendations autonomously.</a:t>
            </a:r>
          </a:p>
          <a:p>
            <a:r>
              <a:t>Predictive Problem Prevention: Agents spot patterns that humans might miss – like a specific intersection causing delays – and proactively reroute future trips.</a:t>
            </a:r>
          </a:p>
          <a:p/>
          <a:p/>
          <a:p>
            <a:r>
              <a:t>Chain-of-Thought Processing</a:t>
            </a:r>
          </a:p>
          <a:p>
            <a:r>
              <a:t>Like a human expert, Agentic AI breaks complex problems into steps, explaining its reasoning. This makes decisions transparent and trustworthy, not mysterious "black boxes."</a:t>
            </a:r>
          </a:p>
          <a:p/>
          <a:p/>
          <a:p>
            <a:r>
              <a:t>Multi-Modal Intelligence</a:t>
            </a:r>
          </a:p>
          <a:p>
            <a:r>
              <a:t>Agents process text, images, audio, video, and sensor data simultaneously. If you report wrong food delivered, the AI analyzes your photo, checks the order history, and determines the exact issue.</a:t>
            </a:r>
          </a:p>
          <a:p/>
          <a:p/>
          <a:p>
            <a:r>
              <a:t>Real-Time Orchestration</a:t>
            </a:r>
          </a:p>
          <a:p>
            <a:r>
              <a:t>Agents coordinate thousands of simultaneous workflows – from matching riders to processing refunds to detecting fraud – all happening in parallel at massive scale.</a:t>
            </a:r>
          </a:p>
          <a:p/>
          <a:p>
            <a:r>
              <a:t>The Business Impact: Uber's Agentic AI has compressed workflows from days to hours, reduced operational costs by significant percentages, and improved quality standards beyond previous benchmarks – all while handling 36 million daily trips with minimal human oversight.</a:t>
            </a:r>
          </a:p>
          <a:p>
            <a:r>
              <a:t>This isn't science fiction – it's the intelligent backbone powering Uber today and shaping how enterprises worldwide will operate tomorrow.</a:t>
            </a:r>
          </a:p>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2026 VISION</a:t>
            </a:r>
          </a:p>
          <a:p>
            <a:r>
              <a:t>2026 Tech Innovations: Uber's Next Frontier</a:t>
            </a:r>
          </a:p>
          <a:p>
            <a:r>
              <a:t>As we move through 2026, Uber is pioneering breakthrough technologies that will fundamentally transform urban mobility, making autonomous transportation, intelligent AI, and seamless global services a reality at unprecedented scale.</a:t>
            </a:r>
          </a:p>
          <a:p/>
          <a:p/>
          <a:p>
            <a:r>
              <a:t>Robotaxi Revolution: 100,000 Autonomous Vehicles</a:t>
            </a:r>
          </a:p>
          <a:p>
            <a:r>
              <a:t>Uber is deploying its custom-built robotaxi fleet with Lucid Motors and Nuro, featuring Nvidia's advanced AI. Starting with 20,000 vehicles in San Francisco, scaling to 100,000 globally by 2027. These cars "think" using Alpamayo AI – handling complex scenarios like a child chasing a ball into traffic through step-by-step reasoning, not just preprogrammed reactions.</a:t>
            </a:r>
          </a:p>
          <a:p/>
          <a:p/>
          <a:p>
            <a:r>
              <a:t>Reasoning-Based AI: Alpamayo Partnership</a:t>
            </a:r>
          </a:p>
          <a:p>
            <a:r>
              <a:t>Uber's collaboration with Nvidia brings "chain-of-thought processing" to autonomous driving. Instead of simple reactions, vehicles now reason through unusual situations, breaking problems down step-by-step like human drivers. This tackles "long-tail scenarios" – rare but critical events that define safety at scale.</a:t>
            </a:r>
          </a:p>
          <a:p/>
          <a:p/>
          <a:p>
            <a:r>
              <a:t>Global AI Data Platform Expansion</a:t>
            </a:r>
          </a:p>
          <a:p>
            <a:r>
              <a:t>Uber AI Solutions now operates in 30 countries, offering enterprise clients access to the same platforms Uber uses internally. This includes AI-powered task routing, quality validation, multilingual support for 100+ languages, and real-time data labeling – democratizing advanced AI capabilities globally.</a:t>
            </a:r>
          </a:p>
          <a:p/>
          <a:p/>
          <a:p>
            <a:r>
              <a:t>Natural Language AI Interface</a:t>
            </a:r>
          </a:p>
          <a:p>
            <a:r>
              <a:t>A revolutionary feature launching in 2026: clients can describe their data needs in plain language, and Uber's AI platform automatically handles setup, task decomposition, worker routing, and quality checks – making enterprise AI accessible without technical expertise.</a:t>
            </a:r>
          </a:p>
          <a:p/>
          <a:p/>
          <a:p>
            <a:r>
              <a:t>European AV Expansion: Munich Launch</a:t>
            </a:r>
          </a:p>
          <a:p>
            <a:r>
              <a:t>Testing Level 4 autonomous vehicles in Munich with partner Momenta, targeting expansion across European cities. This brings Uber's autonomous technology to markets with rich automotive heritage, combining cutting-edge AI with rigorous European safety standards.</a:t>
            </a:r>
          </a:p>
          <a:p/>
          <a:p/>
          <a:p>
            <a:r>
              <a:t>AI Data Factory on Nvidia Cosmos</a:t>
            </a:r>
          </a:p>
          <a:p>
            <a:r>
              <a:t>A joint venture creating a massive AI training infrastructure. This "data factory" generates synthetic training data in virtual environments, dramatically accelerating AV development while reducing real-world testing costs and risks.</a:t>
            </a:r>
          </a:p>
          <a:p/>
        </p:txBody>
      </p:sp>
      <p:sp>
        <p:nvSpPr>
          <p:cNvPr id="3" name="Subtitle 2"/>
          <p:cNvSpPr>
            <a:spLocks noGrp="1"/>
          </p:cNvSpPr>
          <p:nvPr>
            <p:ph type="subTitle"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2026 Innovation Deep Dive: What It Means for You</a:t>
            </a:r>
          </a:p>
          <a:p>
            <a:r>
              <a:t>Safer Rides Through AI Reasoning</a:t>
            </a:r>
          </a:p>
          <a:p>
            <a:r>
              <a:t>Imagine self-driving cars that don't just follow rules, but actually "think" about what to do:</a:t>
            </a:r>
          </a:p>
          <a:p>
            <a:r>
              <a:t>Scenario: Construction suddenly blocks your route</a:t>
            </a:r>
          </a:p>
          <a:p>
            <a:r>
              <a:t>Old AI: Might get confused or stop</a:t>
            </a:r>
          </a:p>
          <a:p>
            <a:r>
              <a:t>New Alpamayo AI: Reasons through options, checks alternate routes, and smoothly navigates around the obstacle</a:t>
            </a:r>
          </a:p>
          <a:p>
            <a:r>
              <a:t>This human-like reasoning makes autonomous vehicles exponentially safer, especially in unpredictable urban environments.</a:t>
            </a:r>
          </a:p>
          <a:p>
            <a:r>
              <a:t>Lower Costs, Greater Access</a:t>
            </a:r>
          </a:p>
          <a:p>
            <a:r>
              <a:t>Autonomous vehicles eliminate the largest cost in ride-sharing: driver compensation. Benefits include:</a:t>
            </a:r>
          </a:p>
          <a:p>
            <a:r>
              <a:t>30-40% lower fares for riders</a:t>
            </a:r>
          </a:p>
          <a:p>
            <a:r>
              <a:t>24/7 availability in all neighborhoods</a:t>
            </a:r>
          </a:p>
          <a:p>
            <a:r>
              <a:t>Reduced traffic congestion (AI optimizes routes)</a:t>
            </a:r>
          </a:p>
          <a:p>
            <a:r>
              <a:t>Environmental benefits (all-electric fleet)</a:t>
            </a:r>
          </a:p>
          <a:p>
            <a:r>
              <a:t>Accessible transportation for underserved communities</a:t>
            </a:r>
          </a:p>
          <a:p>
            <a:r>
              <a:t>Uber's aggregator model (partnering vs. owning) means faster deployment and competitive pricing.</a:t>
            </a:r>
          </a:p>
          <a:p>
            <a:r>
              <a:t>AI Platform for Everyone</a:t>
            </a:r>
          </a:p>
          <a:p>
            <a:r>
              <a:t>Uber's 2026 AI platform expansion democratizes enterprise artificial intelligence:</a:t>
            </a:r>
          </a:p>
          <a:p>
            <a:r>
              <a:t>Before: Only tech giants could build advanced AI</a:t>
            </a:r>
          </a:p>
          <a:p>
            <a:r>
              <a:t>Now: Any company can access Uber's battle-tested infrastructure</a:t>
            </a:r>
          </a:p>
          <a:p>
            <a:r>
              <a:t>Features: Simply describe your need in English (or 100+ languages), and AI handles the complex setup</a:t>
            </a:r>
          </a:p>
          <a:p>
            <a:r>
              <a:t>Use Cases: From training chatbots to analyzing medical images to optimizing supply chains</a:t>
            </a:r>
          </a:p>
          <a:p>
            <a:r>
              <a:t>This levels the playing field, allowing businesses worldwide to innovate with AI at Uber's scale.</a:t>
            </a:r>
          </a:p>
          <a:p>
            <a:r>
              <a:t>183M</a:t>
            </a:r>
          </a:p>
          <a:p>
            <a:r>
              <a:t>Monthly Active Users</a:t>
            </a:r>
          </a:p>
          <a:p>
            <a:r>
              <a:t>Massive user base providing data for continuous AI improvement and rapid AV deployment.</a:t>
            </a:r>
          </a:p>
          <a:p>
            <a:r>
              <a:t>20K+</a:t>
            </a:r>
          </a:p>
          <a:p>
            <a:r>
              <a:t>Initial Robotaxis Deployed</a:t>
            </a:r>
          </a:p>
          <a:p>
            <a:r>
              <a:t>First wave of autonomous vehicles hitting streets in 2026, scaling to 100K by 2027.</a:t>
            </a:r>
          </a:p>
          <a:p>
            <a:r>
              <a:t>30</a:t>
            </a:r>
          </a:p>
          <a:p>
            <a:r>
              <a:t>Countries Served by AI Platform</a:t>
            </a:r>
          </a:p>
          <a:p>
            <a:r>
              <a:t>Global reach of Uber's enterprise AI solutions, supporting businesses worldwide.</a:t>
            </a:r>
          </a:p>
          <a:p>
            <a:r>
              <a:t>100+</a:t>
            </a:r>
          </a:p>
          <a:p>
            <a:r>
              <a:t>Languages Supported</a:t>
            </a:r>
          </a:p>
          <a:p>
            <a:r>
              <a:t>Multilingual AI capabilities making technology truly accessible across cultures.</a:t>
            </a:r>
          </a:p>
          <a:p/>
        </p:txBody>
      </p:sp>
      <p:sp>
        <p:nvSpPr>
          <p:cNvPr id="3" name="Subtitle 2"/>
          <p:cNvSpPr>
            <a:spLocks noGrp="1"/>
          </p:cNvSpPr>
          <p:nvPr>
            <p:ph type="subTitle" idx="1"/>
          </p:nvPr>
        </p:nvSpPr>
        <p:spPr/>
        <p:txBody>
          <a:bodyPr/>
          <a:lstStyle/>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FUTURE OUTLOOK</a:t>
            </a:r>
          </a:p>
          <a:p>
            <a:r>
              <a:t>The Road Ahead: Uber's Vision for Intelligent Mobility</a:t>
            </a:r>
          </a:p>
          <a:p>
            <a:r>
              <a:t>Beyond 2026, Uber envisions a world where technology seamlessly integrates into daily life, making transportation safer, more affordable, and universally accessible while pioneering AI innovations that benefit industries far beyond ride-sharing.</a:t>
            </a:r>
          </a:p>
          <a:p>
            <a:r>
              <a:t>2026-2027: Autonomous Scaling</a:t>
            </a:r>
          </a:p>
          <a:p>
            <a:r>
              <a:t>Rapid deployment of Level 4 autonomous vehicles across major cities globally, with 100,000 vehicles operating by end of 2027. Multi-partner strategy ensures diverse fleet capabilities and competitive dynamics.</a:t>
            </a:r>
          </a:p>
          <a:p>
            <a:r>
              <a:t>2027-2028: Seamless Integration</a:t>
            </a:r>
          </a:p>
          <a:p>
            <a:r>
              <a:t>Mixed fleets of human drivers and autonomous vehicles working in harmony. AI dynamically assigns requests based on optimal efficiency, availability, and customer preference, creating unprecedented flexibility.</a:t>
            </a:r>
          </a:p>
          <a:p>
            <a:r>
              <a:t>2028+: Global AI Platform Leadership</a:t>
            </a:r>
          </a:p>
          <a:p>
            <a:r>
              <a:t>Uber AI Solutions becomes the de facto infrastructure for enterprise AI worldwide. From healthcare diagnostics to financial modeling, Uber's platforms power intelligent decision-making across industries at planetary scale.</a:t>
            </a:r>
          </a:p>
          <a:p>
            <a:r>
              <a:t>Sustainable Urban Future</a:t>
            </a:r>
          </a:p>
          <a:p>
            <a:r>
              <a:t>All-Electric Fleet: Zero-emission autonomous vehicles reducing urban pollution</a:t>
            </a:r>
          </a:p>
          <a:p>
            <a:r>
              <a:t>Optimized Routing: AI minimizing congestion and unnecessary mileage</a:t>
            </a:r>
          </a:p>
          <a:p>
            <a:r>
              <a:t>Shared Mobility: Fewer private cars needed, reclaiming parking space for green areas</a:t>
            </a:r>
          </a:p>
          <a:p>
            <a:r>
              <a:t>Multimodal Integration: Seamless connections between rides, bikes, scooters, and public transit</a:t>
            </a:r>
          </a:p>
          <a:p>
            <a:r>
              <a:t>AI Democratization</a:t>
            </a:r>
          </a:p>
          <a:p>
            <a:r>
              <a:t>Accessible Technology: Small businesses leverage enterprise-grade AI previously available only to tech giants</a:t>
            </a:r>
          </a:p>
          <a:p>
            <a:r>
              <a:t>Global Talent Network: Experts in 30+ countries contributing to AI development, ensuring diverse perspectives</a:t>
            </a:r>
          </a:p>
          <a:p>
            <a:r>
              <a:t>Responsible AI Framework: Built-in bias detection, explainability, and governance at scale</a:t>
            </a:r>
          </a:p>
          <a:p>
            <a:r>
              <a:t>Open Innovation: Continued open-sourcing of tools like H3, benefiting entire industries</a:t>
            </a:r>
          </a:p>
          <a:p/>
          <a:p>
            <a:r>
              <a:t>Uber's North Star: Technology that makes movement effortless, affordable, and available to everyone, everywhere – while pioneering AI systems that think, reason, and collaborate at human-level intelligence but at machine-level scale. The 2026 innovations are just the beginning of this transformative journey.</a:t>
            </a:r>
          </a:p>
          <a:p/>
        </p:txBody>
      </p:sp>
      <p:sp>
        <p:nvSpPr>
          <p:cNvPr id="3" name="Subtitle 2"/>
          <p:cNvSpPr>
            <a:spLocks noGrp="1"/>
          </p:cNvSpPr>
          <p:nvPr>
            <p:ph type="subTitle"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Uber's Complete Real-Time Data Ecosystem: The Full Picture</a:t>
            </a:r>
          </a:p>
          <a:p>
            <a:r>
              <a:t>This comprehensive overview brings together the interconnected technologies and architectural layers that power Uber's intelligent mobility platform, enabling real-time decisions at unprecedented scale.</a:t>
            </a:r>
          </a:p>
          <a:p>
            <a:r>
              <a:t>Uber Real-Time Ecosystem</a:t>
            </a:r>
          </a:p>
          <a:p>
            <a:r>
              <a:t>End-to-end, high‑tech architecture</a:t>
            </a:r>
          </a:p>
          <a:p>
            <a:r>
              <a:t>Ingestion Layer</a:t>
            </a:r>
          </a:p>
          <a:p>
            <a:r>
              <a:t>API Gateway and Kafka streams</a:t>
            </a:r>
          </a:p>
          <a:p>
            <a:r>
              <a:t>Stream Processing</a:t>
            </a:r>
          </a:p>
          <a:p>
            <a:r>
              <a:t>Flink and real-time analytics</a:t>
            </a:r>
          </a:p>
          <a:p>
            <a:r>
              <a:t>Data Sources</a:t>
            </a:r>
          </a:p>
          <a:p>
            <a:r>
              <a:t>Smartphones, sensors, APIs</a:t>
            </a:r>
          </a:p>
          <a:p>
            <a:r>
              <a:t>Geospatial Layer</a:t>
            </a:r>
          </a:p>
          <a:p>
            <a:r>
              <a:t>H3 hex grid and mapping</a:t>
            </a:r>
          </a:p>
          <a:p>
            <a:r>
              <a:t>Technology Stack Summary</a:t>
            </a:r>
          </a:p>
          <a:p/>
          <a:p>
            <a:r>
              <a:t>Data Ingestion &amp; Streaming</a:t>
            </a:r>
          </a:p>
          <a:p>
            <a:r>
              <a:t>Apache Kafka: 10M+ events/second</a:t>
            </a:r>
          </a:p>
          <a:p>
            <a:r>
              <a:t>gRPC: High-performance communication</a:t>
            </a:r>
          </a:p>
          <a:p>
            <a:r>
              <a:t>Protocol Buffers: Efficient serialization</a:t>
            </a:r>
          </a:p>
          <a:p/>
          <a:p>
            <a:r>
              <a:t>Stream Processing</a:t>
            </a:r>
          </a:p>
          <a:p>
            <a:r>
              <a:t>Apache Flink: &lt;50ms processing latency</a:t>
            </a:r>
          </a:p>
          <a:p>
            <a:r>
              <a:t>Apache Spark: Distributed computing</a:t>
            </a:r>
          </a:p>
          <a:p>
            <a:r>
              <a:t>Custom frameworks: Uber-specific optimizations</a:t>
            </a:r>
          </a:p>
          <a:p/>
          <a:p>
            <a:r>
              <a:t>Geospatial Intelligence</a:t>
            </a:r>
          </a:p>
          <a:p>
            <a:r>
              <a:t>H3 Hexagonal Index: 15 resolution levels</a:t>
            </a:r>
          </a:p>
          <a:p>
            <a:r>
              <a:t>Precision: &lt;1ms coordinate-to-hexagon mapping</a:t>
            </a:r>
          </a:p>
          <a:p>
            <a:r>
              <a:t>Coverage: Global with local precision</a:t>
            </a:r>
          </a:p>
          <a:p/>
          <a:p>
            <a:r>
              <a:t>AI/ML Platform</a:t>
            </a:r>
          </a:p>
          <a:p>
            <a:r>
              <a:t>Michelangelo: 1000+ models in production</a:t>
            </a:r>
          </a:p>
          <a:p>
            <a:r>
              <a:t>TensorFlow/PyTorch: Deep learning frameworks</a:t>
            </a:r>
          </a:p>
          <a:p>
            <a:r>
              <a:t>Performance: 100M+ predictions per second</a:t>
            </a:r>
          </a:p>
          <a:p>
            <a:r>
              <a:t>Latency: &lt;100ms inference</a:t>
            </a:r>
          </a:p>
          <a:p/>
          <a:p>
            <a:r>
              <a:t>Data Storage</a:t>
            </a:r>
          </a:p>
          <a:p>
            <a:r>
              <a:t>Redis: &lt;1ms hot storage</a:t>
            </a:r>
          </a:p>
          <a:p>
            <a:r>
              <a:t>Cassandra: Millions of writes/second</a:t>
            </a:r>
          </a:p>
          <a:p>
            <a:r>
              <a:t>PostgreSQL: ACID compliance for critical data</a:t>
            </a:r>
          </a:p>
          <a:p>
            <a:r>
              <a:t>Hadoop/S3: Petabyte-scale archives</a:t>
            </a:r>
          </a:p>
          <a:p/>
          <a:p>
            <a:r>
              <a:t>Monitoring &amp; Reliability</a:t>
            </a:r>
          </a:p>
          <a:p>
            <a:r>
              <a:t>Uptime: 99.99% operational availability</a:t>
            </a:r>
          </a:p>
          <a:p>
            <a:r>
              <a:t>Tracing: Distributed transaction visibility</a:t>
            </a:r>
          </a:p>
          <a:p>
            <a:r>
              <a:t>Resilience: Circuit breakers, auto-scaling</a:t>
            </a:r>
          </a:p>
          <a:p>
            <a:r>
              <a:t>Data Flow: Complete Journey (Trip Request)</a:t>
            </a:r>
          </a:p>
          <a:p/>
          <a:p>
            <a:r>
              <a:t>1</a:t>
            </a:r>
          </a:p>
          <a:p>
            <a:r>
              <a:t>Request Initiation</a:t>
            </a:r>
          </a:p>
          <a:p>
            <a:r>
              <a:t>Rider opens app; GPS coordinates sent via API Gateway, entering Kafka stream (&lt;10ms).</a:t>
            </a:r>
          </a:p>
          <a:p/>
          <a:p>
            <a:r>
              <a:t>2</a:t>
            </a:r>
          </a:p>
          <a:p>
            <a:r>
              <a:t>Real-Time Processing</a:t>
            </a:r>
          </a:p>
          <a:p>
            <a:r>
              <a:t>Flink processes location data, H3 converts coordinates to hexagon ID, features extracted for ML.</a:t>
            </a:r>
          </a:p>
          <a:p/>
          <a:p>
            <a:r>
              <a:t>3</a:t>
            </a:r>
          </a:p>
          <a:p>
            <a:r>
              <a:t>AI/ML Intelligence</a:t>
            </a:r>
          </a:p>
          <a:p>
            <a:r>
              <a:t>Demand prediction, dynamic pricing, driver matching optimization, and fraud detection run concurrently.</a:t>
            </a:r>
          </a:p>
          <a:p/>
          <a:p>
            <a:r>
              <a:t>4</a:t>
            </a:r>
          </a:p>
          <a:p>
            <a:r>
              <a:t>Data Storage</a:t>
            </a:r>
          </a:p>
          <a:p>
            <a:r>
              <a:t>Current state in Redis, trip events in Cassandra, transaction details in PostgreSQL, historical archived to Hadoop.</a:t>
            </a:r>
          </a:p>
          <a:p/>
          <a:p>
            <a:r>
              <a:t>5</a:t>
            </a:r>
          </a:p>
          <a:p>
            <a:r>
              <a:t>Decision Making</a:t>
            </a:r>
          </a:p>
          <a:p>
            <a:r>
              <a:t>Business rules applied, A/B testing variations, and real-time orchestration determine optimal outcomes.</a:t>
            </a:r>
          </a:p>
          <a:p/>
          <a:p>
            <a:r>
              <a:t>6</a:t>
            </a:r>
          </a:p>
          <a:p>
            <a:r>
              <a:t>Response Delivery</a:t>
            </a:r>
          </a:p>
          <a:p>
            <a:r>
              <a:t>Driver match to rider app, trip offer to driver app, operations dashboards updated, analytics systems notified.</a:t>
            </a:r>
          </a:p>
          <a:p/>
          <a:p>
            <a:r>
              <a:t>7</a:t>
            </a:r>
          </a:p>
          <a:p>
            <a:r>
              <a:t>Continuous Learning</a:t>
            </a:r>
          </a:p>
          <a:p>
            <a:r>
              <a:t>Trip outcome feeds back to ML models; performance metrics collected for system optimization.</a:t>
            </a:r>
          </a:p>
          <a:p>
            <a:r>
              <a:t>Scale &amp; Performance Metrics</a:t>
            </a:r>
          </a:p>
          <a:p>
            <a:r>
              <a:t>10K+</a:t>
            </a:r>
          </a:p>
          <a:p>
            <a:r>
              <a:t>Global Reach</a:t>
            </a:r>
          </a:p>
          <a:p>
            <a:r>
              <a:t>Cities served worldwide, fostering vast operational complexity.</a:t>
            </a:r>
          </a:p>
          <a:p>
            <a:r>
              <a:t>183M+</a:t>
            </a:r>
          </a:p>
          <a:p>
            <a:r>
              <a:t>Monthly Users</a:t>
            </a:r>
          </a:p>
          <a:p>
            <a:r>
              <a:t>Massive user base driving continuous data generation.</a:t>
            </a:r>
          </a:p>
          <a:p>
            <a:r>
              <a:t>10M+</a:t>
            </a:r>
          </a:p>
          <a:p>
            <a:r>
              <a:t>Events/Second</a:t>
            </a:r>
          </a:p>
          <a:p>
            <a:r>
              <a:t>High-throughput real-time event processing capabilities.</a:t>
            </a:r>
          </a:p>
          <a:p>
            <a:r>
              <a:t>100M+</a:t>
            </a:r>
          </a:p>
          <a:p>
            <a:r>
              <a:t>ML Predictions/Sec</a:t>
            </a:r>
          </a:p>
          <a:p>
            <a:r>
              <a:t>Rapid, high-volume AI model inference for critical decisions.</a:t>
            </a:r>
          </a:p>
          <a:p>
            <a:r>
              <a:t>&lt;200ms</a:t>
            </a:r>
          </a:p>
          <a:p>
            <a:r>
              <a:t>End-to-End Latency</a:t>
            </a:r>
          </a:p>
          <a:p>
            <a:r>
              <a:t>Achieving near-instantaneous trip matching and decision response.</a:t>
            </a:r>
          </a:p>
          <a:p>
            <a:r>
              <a:t>99.99%</a:t>
            </a:r>
          </a:p>
          <a:p>
            <a:r>
              <a:t>System Reliability</a:t>
            </a:r>
          </a:p>
          <a:p>
            <a:r>
              <a:t>Ensuring consistent availability for critical services globally.</a:t>
            </a:r>
          </a:p>
          <a:p>
            <a:r>
              <a:t>Key Innovations &amp; Business Impact</a:t>
            </a:r>
          </a:p>
          <a:p>
            <a:r>
              <a:t>Core Innovations</a:t>
            </a:r>
          </a:p>
          <a:p>
            <a:r>
              <a:t>Real-Time Stream Processing: Instant decision-making at scale.</a:t>
            </a:r>
          </a:p>
          <a:p>
            <a:r>
              <a:t>H3 Geospatial Intelligence: Hexagonal world mapping for precise location services.</a:t>
            </a:r>
          </a:p>
          <a:p>
            <a:r>
              <a:t>Multi-Database Strategy: Right tool for every data need, optimizing performance.</a:t>
            </a:r>
          </a:p>
          <a:p>
            <a:r>
              <a:t>Michelangelo ML Platform: AI/ML at enterprise scale, powering intelligent services.</a:t>
            </a:r>
          </a:p>
          <a:p>
            <a:r>
              <a:t>Agentic AI: Systems capable of autonomous decision-making.</a:t>
            </a:r>
          </a:p>
          <a:p>
            <a:r>
              <a:t>Fault-Tolerant Architecture: 99.99% reliability with auto-recovery and resilience.</a:t>
            </a:r>
          </a:p>
          <a:p>
            <a:r>
              <a:t>Business Impact &amp; Future-Readiness</a:t>
            </a:r>
          </a:p>
          <a:p>
            <a:r>
              <a:t>Customer Experience: &lt;2 second ride matching, seamless interactions.</a:t>
            </a:r>
          </a:p>
          <a:p>
            <a:r>
              <a:t>Operational Efficiency: Automated workflows reducing operational costs significantly.</a:t>
            </a:r>
          </a:p>
          <a:p>
            <a:r>
              <a:t>Revenue Optimization: Dynamic pricing maximizing marketplace efficiency.</a:t>
            </a:r>
          </a:p>
          <a:p>
            <a:r>
              <a:t>Global Scalability: Supports 36M+ daily trips and continuous expansion.</a:t>
            </a:r>
          </a:p>
          <a:p>
            <a:r>
              <a:t>Autonomous Vehicles: Architecture ready for self-driving integration.</a:t>
            </a:r>
          </a:p>
          <a:p>
            <a:r>
              <a:t>AI Evolution: Platform designed for next-generation AI capabilities and growth.</a:t>
            </a:r>
          </a:p>
          <a:p/>
        </p:txBody>
      </p:sp>
      <p:sp>
        <p:nvSpPr>
          <p:cNvPr id="3" name="Subtitle 2"/>
          <p:cNvSpPr>
            <a:spLocks noGrp="1"/>
          </p:cNvSpPr>
          <p:nvPr>
            <p:ph type="subTitle" idx="1"/>
          </p:nvPr>
        </p:nvSpPr>
        <p:spPr/>
        <p:txBody>
          <a:bodyPr/>
          <a:lstStyle/>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BANKING INNOVATION</a:t>
            </a:r>
          </a:p>
          <a:p>
            <a:r>
              <a:t>Banking Reimagined: Unleashing Real-Time Intelligence for Superior Customer Experiences</a:t>
            </a:r>
          </a:p>
          <a:p>
            <a:r>
              <a:t>Banks process billions of transactions daily, but often lack the real-time intelligence that modern platforms like Uber have mastered. This critical gap leads to reactive fraud detection, delayed customer insights, and a fragmented customer experience, costing the industry billions and hindering competitive advantage.</a:t>
            </a:r>
          </a:p>
          <a:p>
            <a:r>
              <a:t>Uber's Real-Time Capabilities</a:t>
            </a:r>
          </a:p>
          <a:p>
            <a:r>
              <a:t>Instant driver-rider matching (milliseconds)</a:t>
            </a:r>
          </a:p>
          <a:p>
            <a:r>
              <a:t>Dynamic pricing based on live demand</a:t>
            </a:r>
          </a:p>
          <a:p>
            <a:r>
              <a:t>Real-time fraud detection &amp; prevention</a:t>
            </a:r>
          </a:p>
          <a:p>
            <a:r>
              <a:t>Predictive surge management</a:t>
            </a:r>
          </a:p>
          <a:p>
            <a:r>
              <a:t>Personalized recommendations in real-time</a:t>
            </a:r>
          </a:p>
          <a:p>
            <a:r>
              <a:t>What Banks Are Missing Today</a:t>
            </a:r>
          </a:p>
          <a:p>
            <a:r>
              <a:t>Transactions still take hours/days to settle</a:t>
            </a:r>
          </a:p>
          <a:p>
            <a:r>
              <a:t>Fraud detected after the fact, not prevented</a:t>
            </a:r>
          </a:p>
          <a:p>
            <a:r>
              <a:t>Customer insights are batch-processed (daily/weekly)</a:t>
            </a:r>
          </a:p>
          <a:p>
            <a:r>
              <a:t>No real-time personalization during transactions</a:t>
            </a:r>
          </a:p>
          <a:p>
            <a:r>
              <a:t>Risk assessment often happens post-transaction</a:t>
            </a:r>
          </a:p>
          <a:p>
            <a:r>
              <a:t>Real-World Banking Scenarios Transformed by Real-Time Data</a:t>
            </a:r>
          </a:p>
          <a:p/>
          <a:p/>
          <a:p>
            <a:r>
              <a:t>Fraud Prevention</a:t>
            </a:r>
          </a:p>
          <a:p>
            <a:r>
              <a:t>Uber: Detects suspicious driver behavior in milliseconds, blocks instantly. </a:t>
            </a:r>
          </a:p>
          <a:p>
            <a:r>
              <a:t>Banking Gap: A fraudster makes 5 transactions before the bank detects it. </a:t>
            </a:r>
          </a:p>
          <a:p>
            <a:r>
              <a:t>Solution: Real-time geospatial analysis (like H3) and stream processing to flag unusual patterns instantly, preventing fraud as it happens.</a:t>
            </a:r>
          </a:p>
          <a:p/>
          <a:p/>
          <a:p>
            <a:r>
              <a:t>Customer Experience</a:t>
            </a:r>
          </a:p>
          <a:p>
            <a:r>
              <a:t>Uber: Knows your location, preferences, surge pricing – offers the perfect ride instantly. </a:t>
            </a:r>
          </a:p>
          <a:p>
            <a:r>
              <a:t>Banking Gap: Customer calls bank, waits on hold, gets generic service. </a:t>
            </a:r>
          </a:p>
          <a:p>
            <a:r>
              <a:t>Solution: Real-time customer context (location, transaction history, needs) enables instant, personalized offers and proactive support.</a:t>
            </a:r>
          </a:p>
          <a:p/>
          <a:p/>
          <a:p>
            <a:r>
              <a:t>Settlement &amp; Liquidity</a:t>
            </a:r>
          </a:p>
          <a:p>
            <a:r>
              <a:t>Uber: Drivers get paid in real-time, money flows instantly within the platform. </a:t>
            </a:r>
          </a:p>
          <a:p>
            <a:r>
              <a:t>Banking Gap: B2B payments take 2-3 days, Small &amp; Medium Businesses wait for cash flow. </a:t>
            </a:r>
          </a:p>
          <a:p>
            <a:r>
              <a:t>Solution: Real-time settlement using a stream processing architecture, accelerating cash flow and improving business efficiency.</a:t>
            </a:r>
          </a:p>
          <a:p/>
          <a:p/>
          <a:p>
            <a:r>
              <a:t>Risk Management</a:t>
            </a:r>
          </a:p>
          <a:p>
            <a:r>
              <a:t>Uber: Predicts surge demand 10 minutes ahead, deploys resources proactively. </a:t>
            </a:r>
          </a:p>
          <a:p>
            <a:r>
              <a:t>Banking Gap: Risk teams analyze data after market closes, reacting to events. </a:t>
            </a:r>
          </a:p>
          <a:p>
            <a:r>
              <a:t>Solution: Real-time risk prediction using Uber's stream processing and geospatial analysis, enabling proactive mitigation of financial risks.</a:t>
            </a:r>
          </a:p>
          <a:p>
            <a:r>
              <a:t>From Reactive to Proactive: The Banking Transformation</a:t>
            </a:r>
          </a:p>
          <a:p>
            <a:r>
              <a:t>Traditional Banking</a:t>
            </a:r>
          </a:p>
          <a:p>
            <a:r>
              <a:t>Real-Time Banking</a:t>
            </a:r>
          </a:p>
          <a:p>
            <a:r>
              <a:t>Instant Insights</a:t>
            </a:r>
          </a:p>
          <a:p>
            <a:r>
              <a:t>Stream Processing</a:t>
            </a:r>
          </a:p>
          <a:p>
            <a:r>
              <a:t>Delayed Insights</a:t>
            </a:r>
          </a:p>
          <a:p>
            <a:r>
              <a:t>Batch Processing</a:t>
            </a:r>
          </a:p>
          <a:p>
            <a:r>
              <a:t>Key Technologies Banks Should Adopt from Uber</a:t>
            </a:r>
          </a:p>
          <a:p/>
          <a:p>
            <a:r>
              <a:t>Stream Processing</a:t>
            </a:r>
          </a:p>
          <a:p>
            <a:r>
              <a:t>Leverage technologies like Kafka/Flink for continuous, real-time transaction analysis and event detection.</a:t>
            </a:r>
          </a:p>
          <a:p/>
          <a:p>
            <a:r>
              <a:t>Geospatial Intelligence</a:t>
            </a:r>
          </a:p>
          <a:p>
            <a:r>
              <a:t>Implement H3-like systems for location-based risk assessment, fraud detection, and personalized customer offers.</a:t>
            </a:r>
          </a:p>
          <a:p/>
          <a:p>
            <a:r>
              <a:t>Real-Time Data Warehousing</a:t>
            </a:r>
          </a:p>
          <a:p>
            <a:r>
              <a:t>Build data architectures capable of providing instant customer insights and analytical capabilities.</a:t>
            </a:r>
          </a:p>
          <a:p/>
          <a:p>
            <a:r>
              <a:t>Predictive Analytics</a:t>
            </a:r>
          </a:p>
          <a:p>
            <a:r>
              <a:t>Utilize machine learning for proactive fraud prevention, risk management, and personalized service delivery.</a:t>
            </a:r>
          </a:p>
          <a:p>
            <a:r>
              <a:t>Banks that embrace Uber's real-time architecture will dominate the next decade of fintech, offering customers experiences that feel like magic: instant, personalized, and inherently secure.</a:t>
            </a:r>
          </a:p>
          <a:p/>
        </p:txBody>
      </p:sp>
      <p:sp>
        <p:nvSpPr>
          <p:cNvPr id="3" name="Subtitle 2"/>
          <p:cNvSpPr>
            <a:spLocks noGrp="1"/>
          </p:cNvSpPr>
          <p:nvPr>
            <p:ph type="subTitle" idx="1"/>
          </p:nvPr>
        </p:nvSpPr>
        <p:spPr/>
        <p:txBody>
          <a:bodyPr/>
          <a:lstStyle/>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The Reality Check: Wells Fargo's Current State vs. The Real-Time Future</a:t>
            </a:r>
          </a:p>
          <a:p>
            <a:r>
              <a:t>Wells Fargo possesses strong foundational assets – an extensive customer base, robust financial infrastructure, and significant AI investments. However, like many incumbent banks, they are not yet operating at the real-time, agile level demonstrated by modern tech platforms like Uber. Here's an honest assessment of their current standing and the critical transformation needed.</a:t>
            </a:r>
          </a:p>
          <a:p>
            <a:r>
              <a:t>Wells Fargo HAS TODAY (Current State)</a:t>
            </a:r>
          </a:p>
          <a:p>
            <a:r>
              <a:t>AI investments: Primarily in chatbots, internal tools, and batch-based fraud detection.</a:t>
            </a:r>
          </a:p>
          <a:p>
            <a:r>
              <a:t>Customer data: Siloed across retail, commercial, and wealth management, limiting a unified view.</a:t>
            </a:r>
          </a:p>
          <a:p>
            <a:r>
              <a:t>Infrastructure: Predominantly legacy systems, including mainframes from the 1980s-90s.</a:t>
            </a:r>
          </a:p>
          <a:p>
            <a:r>
              <a:t>APIs: Limited real-time capabilities; mainly for integration rather than streaming data.</a:t>
            </a:r>
          </a:p>
          <a:p>
            <a:r>
              <a:t>Fraud detection: Reactive, identifying fraud after it has already occurred.</a:t>
            </a:r>
          </a:p>
          <a:p>
            <a:r>
              <a:t>Customer insights: Batch-processed, relying on daily/weekly reports rather than real-time data.</a:t>
            </a:r>
          </a:p>
          <a:p>
            <a:r>
              <a:t>Settlement: Traditional, with B2B payments often taking 2-3 days to clear.</a:t>
            </a:r>
          </a:p>
          <a:p>
            <a:r>
              <a:t>Wells Fargo NEEDS TO BUILD (Future State)</a:t>
            </a:r>
          </a:p>
          <a:p>
            <a:r>
              <a:t>Real-time stream processing architecture: Similar to Uber's Kafka/Flink for continuous data flow.</a:t>
            </a:r>
          </a:p>
          <a:p>
            <a:r>
              <a:t>Unified customer data platform: Breaking down silos for a 360-degree customer view.</a:t>
            </a:r>
          </a:p>
          <a:p>
            <a:r>
              <a:t>Modernized infrastructure: Cloud-native, microservices-based, and highly scalable.</a:t>
            </a:r>
          </a:p>
          <a:p>
            <a:r>
              <a:t>Real-time APIs &amp; event-driven architecture: Enabling instant interactions and data exchange.</a:t>
            </a:r>
          </a:p>
          <a:p>
            <a:r>
              <a:t>Predictive fraud prevention: AI that stops fraud proactively, before it impacts customers.</a:t>
            </a:r>
          </a:p>
          <a:p>
            <a:r>
              <a:t>Real-time customer intelligence: Millisecond insights for personalized, contextual experiences.</a:t>
            </a:r>
          </a:p>
          <a:p>
            <a:r>
              <a:t>Instant settlement capability: Real-time payments for individuals and businesses.</a:t>
            </a:r>
          </a:p>
          <a:p>
            <a:r>
              <a:t>Geospatial intelligence: H3-like systems for location-based banking services and risk assessment.</a:t>
            </a:r>
          </a:p>
          <a:p>
            <a:r>
              <a:t>The Implementation Challenge</a:t>
            </a:r>
          </a:p>
          <a:p>
            <a:r>
              <a:t>Technical debt: Replacing or integrating with decades-old legacy systems is complex and costly.</a:t>
            </a:r>
          </a:p>
          <a:p>
            <a:r>
              <a:t>Organizational silos: Deep-rooted departmental separation hinders cross-functional data sharing and collaboration.</a:t>
            </a:r>
          </a:p>
          <a:p>
            <a:r>
              <a:t>Regulatory complexity: Strict banking regulations can slow down rapid technological innovation and deployment.</a:t>
            </a:r>
          </a:p>
          <a:p>
            <a:r>
              <a:t>Talent gap: A shortage of engineers skilled in real-time stream processing, cloud-native development, and advanced AI.</a:t>
            </a:r>
          </a:p>
          <a:p>
            <a:r>
              <a:t>Timeline: A full transformation is a multi-year effort (3-5 years), not a quick fix.</a:t>
            </a:r>
          </a:p>
          <a:p>
            <a:r>
              <a:t>The Opportunity Window</a:t>
            </a:r>
          </a:p>
          <a:p>
            <a:r>
              <a:t>Competitors also behind: Major players like JPMorgan, Bank of America, and Citibank face similar challenges.</a:t>
            </a:r>
          </a:p>
          <a:p>
            <a:r>
              <a:t>First mover advantage: The bank that successfully adopts real-time architecture first will dominate the next decade of fintech.</a:t>
            </a:r>
          </a:p>
          <a:p>
            <a:r>
              <a:t>Customer expectations are rising: Consumers now expect Uber-like instant and seamless experiences across all services, including banking.</a:t>
            </a:r>
          </a:p>
          <a:p>
            <a:r>
              <a:t>Technology is ready: Real-time architectures are proven and mature, successfully implemented by tech giants like Uber and Netflix.</a:t>
            </a:r>
          </a:p>
          <a:p>
            <a:r>
              <a:t>Critical Success Factors</a:t>
            </a:r>
          </a:p>
          <a:p>
            <a:r>
              <a:t>Executive commitment: CEO and leadership must champion this as a top strategic priority.</a:t>
            </a:r>
          </a:p>
          <a:p>
            <a:r>
              <a:t>Massive investment: Billions will be needed for infrastructure modernization, talent, and R&amp;D.</a:t>
            </a:r>
          </a:p>
          <a:p>
            <a:r>
              <a:t>Aggressive talent acquisition: Hire top engineers and data scientists from leading tech companies.</a:t>
            </a:r>
          </a:p>
          <a:p>
            <a:r>
              <a:t>Strategic partnerships: Collaborate with cloud providers (AWS, Google Cloud) and fintech innovators.</a:t>
            </a:r>
          </a:p>
          <a:p>
            <a:r>
              <a:t>Agile transformation: Shift from traditional waterfall development to a flexible, iterative agile methodology.</a:t>
            </a:r>
          </a:p>
          <a:p>
            <a:r>
              <a:t>Customer-centric mindset: Prioritize user experience and value delivery over internal processes and compliance alone.</a:t>
            </a:r>
          </a:p>
          <a:p>
            <a:r>
              <a:t>The Bottom Line</a:t>
            </a:r>
          </a:p>
          <a:p/>
          <a:p>
            <a:r>
              <a:t>Wells Fargo has the FOUNDATION but NOT the REAL-TIME ARCHITECTURE.</a:t>
            </a:r>
          </a:p>
          <a:p/>
          <a:p>
            <a:r>
              <a:t>They have the ASSETS but NOT the AGILITY.</a:t>
            </a:r>
          </a:p>
          <a:p/>
          <a:p>
            <a:r>
              <a:t>They have the CUSTOMERS but NOT the UBER-LIKE EXPERIENCE.</a:t>
            </a:r>
          </a:p>
          <a:p>
            <a:r>
              <a:t>The question is: Will they move fast enough to capture this unprecedented opportunity?</a:t>
            </a:r>
          </a:p>
          <a:p/>
        </p:txBody>
      </p:sp>
      <p:sp>
        <p:nvSpPr>
          <p:cNvPr id="3" name="Subtitle 2"/>
          <p:cNvSpPr>
            <a:spLocks noGrp="1"/>
          </p:cNvSpPr>
          <p:nvPr>
            <p:ph type="subTitle" idx="1"/>
          </p:nvPr>
        </p:nvSpPr>
        <p:spPr/>
        <p:txBody>
          <a:bodyPr/>
          <a:lstStyle/>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BANKING INNOVATION</a:t>
            </a:r>
          </a:p>
          <a:p>
            <a:r>
              <a:t>Wells Fargo's Competitive Advantage: Building the Real-Time Banking Platform</a:t>
            </a:r>
          </a:p>
          <a:p>
            <a:r>
              <a:t>Wells Fargo is already investing heavily in AI and digital transformation. With 183 million customer relationships and $1.9 trillion in assets, they have the scale and resources to build the world's most advanced real-time banking platform. Here's how they can dominate the financial services landscape.</a:t>
            </a:r>
          </a:p>
          <a:p>
            <a:r>
              <a:t>Wells Fargo's Foundational Strengths</a:t>
            </a:r>
          </a:p>
          <a:p/>
          <a:p>
            <a:r>
              <a:t>Massive Customer Base</a:t>
            </a:r>
          </a:p>
          <a:p>
            <a:r>
              <a:t>183M+ customers across retail, commercial, and wealth management provide unparalleled reach and data.</a:t>
            </a:r>
          </a:p>
          <a:p/>
          <a:p>
            <a:r>
              <a:t>Existing AI Investments</a:t>
            </a:r>
          </a:p>
          <a:p>
            <a:r>
              <a:t>Already deploying AI across multiple divisions, creating a strong base for real-time intelligence.</a:t>
            </a:r>
          </a:p>
          <a:p/>
          <a:p>
            <a:r>
              <a:t>API-First Strategy</a:t>
            </a:r>
          </a:p>
          <a:p>
            <a:r>
              <a:t>A modern approach enabling flexible and real-time data connections for seamless integration.</a:t>
            </a:r>
          </a:p>
          <a:p/>
          <a:p>
            <a:r>
              <a:t>Global Infrastructure</a:t>
            </a:r>
          </a:p>
          <a:p>
            <a:r>
              <a:t>Extensive data centers and processing power ready to handle massive real-time data streams.</a:t>
            </a:r>
          </a:p>
          <a:p/>
          <a:p>
            <a:r>
              <a:t>Regulatory Expertise</a:t>
            </a:r>
          </a:p>
          <a:p>
            <a:r>
              <a:t>Proven compliance and risk management frameworks crucial for financial services innovation.</a:t>
            </a:r>
          </a:p>
          <a:p/>
          <a:p>
            <a:r>
              <a:t>Deep Customer Data</a:t>
            </a:r>
          </a:p>
          <a:p>
            <a:r>
              <a:t>Rich transaction history and behavior patterns are a goldmine for personalized services.</a:t>
            </a:r>
          </a:p>
          <a:p>
            <a:r>
              <a:t>Unlocking Competitive Advantage: Real-Time Opportunities</a:t>
            </a:r>
          </a:p>
          <a:p/>
          <a:p/>
          <a:p>
            <a:r>
              <a:t>Real-Time Fraud Prevention at Scale</a:t>
            </a:r>
          </a:p>
          <a:p>
            <a:r>
              <a:t>Current: Fraud often detected after transactions occur.</a:t>
            </a:r>
          </a:p>
          <a:p>
            <a:r>
              <a:t>WF Advantage: Detect fraud patterns across 183M customers in milliseconds using real-time stream processing.</a:t>
            </a:r>
          </a:p>
          <a:p>
            <a:r>
              <a:t>Impact: Prevent billions in annual fraud losses and build unparalleled customer trust.</a:t>
            </a:r>
          </a:p>
          <a:p/>
          <a:p/>
          <a:p>
            <a:r>
              <a:t>Hyper-Personalized Banking</a:t>
            </a:r>
          </a:p>
          <a:p>
            <a:r>
              <a:t>Current: Generic banking experience.</a:t>
            </a:r>
          </a:p>
          <a:p>
            <a:r>
              <a:t>WF Advantage: Real-time customer context (location, transaction patterns, life events) delivers personalized offers at the exact moment of need.</a:t>
            </a:r>
          </a:p>
          <a:p>
            <a:r>
              <a:t>Example: Customer near a car dealership receives an instant, pre-approved auto loan offer with the best rate.</a:t>
            </a:r>
          </a:p>
          <a:p/>
          <a:p/>
          <a:p>
            <a:r>
              <a:t>Instant Settlement &amp; Real-Time Liquidity</a:t>
            </a:r>
          </a:p>
          <a:p>
            <a:r>
              <a:t>Current: B2B payments take 2-3 days.</a:t>
            </a:r>
          </a:p>
          <a:p>
            <a:r>
              <a:t>WF Advantage: A real-time settlement platform for commercial customers, accelerating cash flow for millions of SMBs.</a:t>
            </a:r>
          </a:p>
          <a:p>
            <a:r>
              <a:t>Impact: Become the preferred bank for businesses that demand instant liquidity, surpassing competitors like JPMorgan Chase.</a:t>
            </a:r>
          </a:p>
          <a:p/>
          <a:p/>
          <a:p>
            <a:r>
              <a:t>Predictive Financial Health</a:t>
            </a:r>
          </a:p>
          <a:p>
            <a:r>
              <a:t>Current: Banks react to customer problems like overdrafts or missed payments.</a:t>
            </a:r>
          </a:p>
          <a:p>
            <a:r>
              <a:t>WF Advantage: Real-time analysis of spending patterns predicts financial stress, enabling proactive interventions.</a:t>
            </a:r>
          </a:p>
          <a:p>
            <a:r>
              <a:t>Impact: Stronger customer relationships, reduced defaults, and enhanced financial well-being for customers.</a:t>
            </a:r>
          </a:p>
          <a:p/>
          <a:p/>
          <a:p>
            <a:r>
              <a:t>Commercial Banking Intelligence</a:t>
            </a:r>
          </a:p>
          <a:p>
            <a:r>
              <a:t>Current: Commercial customers wait for monthly/quarterly reports.</a:t>
            </a:r>
          </a:p>
          <a:p>
            <a:r>
              <a:t>WF Advantage: Real-time dashboards showing cash flow, receivables, payables, and predictive forecasts.</a:t>
            </a:r>
          </a:p>
          <a:p>
            <a:r>
              <a:t>Impact: Position Wells Fargo as the essential operating system for business banking, outperforming Bank of America.</a:t>
            </a:r>
          </a:p>
          <a:p>
            <a:r>
              <a:t>Strategic Implementation Roadmap</a:t>
            </a:r>
          </a:p>
          <a:p/>
          <a:p>
            <a:r>
              <a:t>Phase 1 (2025-2026)</a:t>
            </a:r>
          </a:p>
          <a:p>
            <a:r>
              <a:t>Build real-time fraud detection and prevention system.</a:t>
            </a:r>
          </a:p>
          <a:p/>
          <a:p>
            <a:r>
              <a:t>Phase 2 (2026-2027)</a:t>
            </a:r>
          </a:p>
          <a:p>
            <a:r>
              <a:t>Launch hyper-personalized customer experience platform.</a:t>
            </a:r>
          </a:p>
          <a:p/>
          <a:p>
            <a:r>
              <a:t>Phase 3 (2027-2028)</a:t>
            </a:r>
          </a:p>
          <a:p>
            <a:r>
              <a:t>Deploy real-time settlement and liquidity platform.</a:t>
            </a:r>
          </a:p>
          <a:p/>
          <a:p>
            <a:r>
              <a:t>Phase 4 (2028+)</a:t>
            </a:r>
          </a:p>
          <a:p>
            <a:r>
              <a:t>Become the AI-powered operating system for banking.</a:t>
            </a:r>
          </a:p>
          <a:p>
            <a:r>
              <a:t>Projected Market Impact</a:t>
            </a:r>
          </a:p>
          <a:p>
            <a:r>
              <a:t>25-30%</a:t>
            </a:r>
          </a:p>
          <a:p>
            <a:r>
              <a:t>Increase Customer Retention</a:t>
            </a:r>
          </a:p>
          <a:p>
            <a:r>
              <a:t>Through superior, magical customer experiences.</a:t>
            </a:r>
          </a:p>
          <a:p>
            <a:r>
              <a:t>40-50%</a:t>
            </a:r>
          </a:p>
          <a:p>
            <a:r>
              <a:t>Reduce Fraud Losses</a:t>
            </a:r>
          </a:p>
          <a:p>
            <a:r>
              <a:t>Protecting both the bank and its customers more effectively.</a:t>
            </a:r>
          </a:p>
          <a:p>
            <a:r>
              <a:t>1.5x</a:t>
            </a:r>
          </a:p>
          <a:p>
            <a:r>
              <a:t>Attract SMBs &amp; Commercials</a:t>
            </a:r>
          </a:p>
          <a:p>
            <a:r>
              <a:t>Become the top choice for real-time banking needs.</a:t>
            </a:r>
          </a:p>
          <a:p>
            <a:r>
              <a:t>20%</a:t>
            </a:r>
          </a:p>
          <a:p>
            <a:r>
              <a:t>Command Premium Pricing</a:t>
            </a:r>
          </a:p>
          <a:p>
            <a:r>
              <a:t>Reflecting the unmatched value of superior service.</a:t>
            </a:r>
          </a:p>
          <a:p>
            <a:r>
              <a:t>Wells Fargo has the scale, resources, and customer base to build the 'Uber of banking.' The bank that masters real-time intelligence will dominate the next decade of financial services. Wells Fargo is uniquely positioned to be that bank, leaving competitors like JPMorgan Chase and Citibank behind.</a:t>
            </a:r>
          </a:p>
          <a:p/>
        </p:txBody>
      </p:sp>
      <p:sp>
        <p:nvSpPr>
          <p:cNvPr id="3" name="Subtitle 2"/>
          <p:cNvSpPr>
            <a:spLocks noGrp="1"/>
          </p:cNvSpPr>
          <p:nvPr>
            <p:ph type="subTitle" idx="1"/>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
            <a:r>
              <a:t>CROSS-INDUSTRY IMPACT</a:t>
            </a:r>
          </a:p>
          <a:p>
            <a:r>
              <a:t>Beyond Mobility: How Uber's Tech Stack Powers Other Industries</a:t>
            </a:r>
          </a:p>
          <a:p>
            <a:r>
              <a:t>The real-time data architecture, Agentic AI, and geospatial intelligence powering Uber's 36 million daily trips aren't just for ride-sharing. These same technologies are transforming industries from banking to healthcare, retail to logistics.</a:t>
            </a:r>
          </a:p>
          <a:p/>
          <a:p/>
          <a:p>
            <a:r>
              <a:t>Financial Services: Instant Fraud Prevention</a:t>
            </a:r>
          </a:p>
          <a:p>
            <a:r>
              <a:t>Imagine your bank instantly spotting and stopping suspicious activity—like a purchase made miles from your location or an unusually large transfer—before any damage is done. Uber's stream processing analyzes transaction patterns in milliseconds, protecting finances and providing unmatched peace of mind.</a:t>
            </a:r>
          </a:p>
          <a:p/>
          <a:p/>
          <a:p>
            <a:r>
              <a:t>Real-Time Transaction Control</a:t>
            </a:r>
          </a:p>
          <a:p>
            <a:r>
              <a:t>Every single card swipe, payment, or deposit instantly triggers a notification. You're always in the loop, with the power to approve or decline transactions on the fly. This empowers customers and dramatically enhances security and trust.</a:t>
            </a:r>
          </a:p>
          <a:p/>
          <a:p/>
          <a:p>
            <a:r>
              <a:t>Dynamic Financial Decisions</a:t>
            </a:r>
          </a:p>
          <a:p>
            <a:r>
              <a:t>Instead of waiting weeks for credit decisions, get instant approvals for loans and services. Your financial profile is continuously updated with live data, reflecting your true eligibility and unlocking opportunities faster than ever before.</a:t>
            </a:r>
          </a:p>
          <a:p/>
          <a:p/>
          <a:p>
            <a:r>
              <a:t>Proactive Personalized Guidance</a:t>
            </a:r>
          </a:p>
          <a:p>
            <a:r>
              <a:t>Your bank becomes a smart financial advisor, analyzing your spending habits to offer real-time budget alerts, personalized savings goals, and tailored investment opportunities. Get the right financial advice, precisely when you need it.</a:t>
            </a:r>
          </a:p>
          <a:p>
            <a:r>
              <a:t>Empowering Technologies</a:t>
            </a:r>
          </a:p>
          <a:p>
            <a:r>
              <a:t>This transformative approach is powered by Uber's battle-tested stack:</a:t>
            </a:r>
          </a:p>
          <a:p>
            <a:r>
              <a:t>Event Streaming (Kafka): Handling millions of transactions per second, ensuring every financial event is captured instantly</a:t>
            </a:r>
          </a:p>
          <a:p>
            <a:r>
              <a:t>Real-Time Analytics: Processing complex data streams to detect patterns and anomalies with sub-second latency</a:t>
            </a:r>
          </a:p>
          <a:p>
            <a:r>
              <a:t>Geospatial Intelligence (H3): Understanding spending patterns by location, detecting unusual geographic activity</a:t>
            </a:r>
          </a:p>
          <a:p>
            <a:r>
              <a:t>Agentic AI: Autonomous decision-making systems that adapt and improve continuously</a:t>
            </a:r>
          </a:p>
          <a:p>
            <a:r>
              <a:t>Measurable Business Value</a:t>
            </a:r>
          </a:p>
          <a:p>
            <a:r>
              <a:t>Boosted Profitability: 60-80% reduction in fraud losses and increased revenue from personalized offerings</a:t>
            </a:r>
          </a:p>
          <a:p>
            <a:r>
              <a:t>Elevated Customer Loyalty: Enhanced satisfaction through instant services, proactive insights, and transparent security</a:t>
            </a:r>
          </a:p>
          <a:p>
            <a:r>
              <a:t>Operational Excellence: Streamlined processes, reduced manual intervention, improved resource allocation</a:t>
            </a:r>
          </a:p>
          <a:p>
            <a:r>
              <a:t>Strategic Agility: Rapid adaptation to market changes and regulatory demands with real-time monitoring</a:t>
            </a:r>
          </a:p>
          <a:p>
            <a:r>
              <a:t>Competitive Edge: Position as leader in innovation and customer-centric services</a:t>
            </a:r>
          </a:p>
          <a:p/>
          <a:p>
            <a:r>
              <a:t>Real-World Impact: Leading financial institutions have implemented similar streaming architectures, processing millions of transactions per second, slashing fraud by over $200M annually, and delivering superior customer experience through instant notifications and approvals. Uber AI Solutions now makes this technology accessible to any enterprise.</a:t>
            </a:r>
          </a:p>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