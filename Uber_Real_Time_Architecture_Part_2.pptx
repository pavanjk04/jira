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How H3 Works: Step-by-Step</a:t>
            </a:r>
          </a:p>
          <a:p/>
          <a:p/>
          <a:p>
            <a:r>
              <a:t>Step 1: GPS Coordinate Input</a:t>
            </a:r>
          </a:p>
          <a:p>
            <a:r>
              <a:t>Raw GPS data (e.g., 40.7128°N, 74.0060°W) with timestamp is continuously streamed into the system.</a:t>
            </a:r>
          </a:p>
          <a:p/>
          <a:p/>
          <a:p>
            <a:r>
              <a:t>Step 2: Hexagon Mapping</a:t>
            </a:r>
          </a:p>
          <a:p>
            <a:r>
              <a:t>The H3 algorithm instantly converts GPS coordinates into a unique hexadecimal H3 cell ID (e.g., 8a2a1072b59ffff).</a:t>
            </a:r>
          </a:p>
          <a:p/>
          <a:p/>
          <a:p>
            <a:r>
              <a:t>Step 3: Hierarchical Lookup</a:t>
            </a:r>
          </a:p>
          <a:p>
            <a:r>
              <a:t>The system identifies parent (larger) and child (smaller) hexagons, building a multi-level geospatial hierarchy.</a:t>
            </a:r>
          </a:p>
          <a:p/>
          <a:p/>
          <a:p>
            <a:r>
              <a:t>Step 4: Neighbor Discovery</a:t>
            </a:r>
          </a:p>
          <a:p>
            <a:r>
              <a:t>H3 efficiently identifies all 6 immediate neighboring hexagons, enabling rapid proximity queries and range operations.</a:t>
            </a:r>
          </a:p>
          <a:p/>
          <a:p>
            <a:r>
              <a:t>Step 5: Aggregation &amp; Analysis</a:t>
            </a:r>
          </a:p>
          <a:p>
            <a:r>
              <a:t>Data from multiple hexagons is combined, allowing for calculations of demand density, identification of hotspots/coldspots, and pattern recognition.</a:t>
            </a:r>
          </a:p>
          <a:p/>
          <a:p/>
          <a:p/>
          <a:p>
            <a:r>
              <a:t>Step 6: Decision Making</a:t>
            </a:r>
          </a:p>
          <a:p>
            <a:r>
              <a:t>Analyzed H3 data feeds into Uber's pricing engine, dispatch algorithms, and operational dashboards for real-time decision support.</a:t>
            </a:r>
          </a:p>
          <a:p>
            <a:r>
              <a:t>Technologies &amp; Tools Used in H3 Implementation</a:t>
            </a:r>
          </a:p>
          <a:p/>
          <a:p/>
          <a:p>
            <a:r>
              <a:t>Core H3 Library</a:t>
            </a:r>
          </a:p>
          <a:p>
            <a:r>
              <a:t>Uber's open-source H3 library (Java, Python, JS, C, Go)</a:t>
            </a:r>
          </a:p>
          <a:p>
            <a:r>
              <a:t>Optimized for performance and accuracy across various platforms.</a:t>
            </a:r>
          </a:p>
          <a:p/>
          <a:p/>
          <a:p>
            <a:r>
              <a:t>Integration with Stream Processing</a:t>
            </a:r>
          </a:p>
          <a:p>
            <a:r>
              <a:t>Apache Kafka: Real-time streaming of GPS coordinates.</a:t>
            </a:r>
          </a:p>
          <a:p>
            <a:r>
              <a:t>Apache Flink: Low-latency processing through H3 indexing (&lt;50ms).</a:t>
            </a:r>
          </a:p>
          <a:p/>
          <a:p/>
          <a:p>
            <a:r>
              <a:t>Storage &amp; Querying</a:t>
            </a:r>
          </a:p>
          <a:p>
            <a:r>
              <a:t>Redis: Caches hexagon-to-demand mappings for fast access.</a:t>
            </a:r>
          </a:p>
          <a:p>
            <a:r>
              <a:t>Cassandra: Stores vast amounts of historical hexagon data.</a:t>
            </a:r>
          </a:p>
          <a:p>
            <a:r>
              <a:t>Elasticsearch: Enables rapid and complex geospatial queries.</a:t>
            </a:r>
          </a:p>
          <a:p/>
          <a:p/>
          <a:p>
            <a:r>
              <a:t>Visualization &amp; Analytics</a:t>
            </a:r>
          </a:p>
          <a:p>
            <a:r>
              <a:t>Uber's internal mapping tools for real-time heatmaps.</a:t>
            </a:r>
          </a:p>
          <a:p>
            <a:r>
              <a:t>Dynamic visualization of demand patterns across resolutions.</a:t>
            </a:r>
          </a:p>
          <a:p/>
          <a:p/>
          <a:p>
            <a:r>
              <a:t>Machine Learning Integration</a:t>
            </a:r>
          </a:p>
          <a:p>
            <a:r>
              <a:t>TensorFlow &amp; Michelangelo: H3 features power demand prediction models.</a:t>
            </a:r>
          </a:p>
          <a:p>
            <a:r>
              <a:t>Forecasts like "Hexagon X will have 50% more demand in 10 minutes".</a:t>
            </a:r>
          </a:p>
          <a:p>
            <a:r>
              <a:t>Real-World Performance Metrics</a:t>
            </a:r>
          </a:p>
          <a:p>
            <a:r>
              <a:t>10M+</a:t>
            </a:r>
          </a:p>
          <a:p>
            <a:r>
              <a:t>Coordinates Processed</a:t>
            </a:r>
          </a:p>
          <a:p>
            <a:r>
              <a:t>Per second, demonstrating massive scalability.</a:t>
            </a:r>
          </a:p>
          <a:p>
            <a:r>
              <a:t>&lt;1ms</a:t>
            </a:r>
          </a:p>
          <a:p>
            <a:r>
              <a:t>Hexagon Lookup Time</a:t>
            </a:r>
          </a:p>
          <a:p>
            <a:r>
              <a:t>Extremely fast conversion from GPS to H3 ID.</a:t>
            </a:r>
          </a:p>
          <a:p>
            <a:r>
              <a:t>&lt;5ms</a:t>
            </a:r>
          </a:p>
          <a:p>
            <a:r>
              <a:t>Neighbor Queries</a:t>
            </a:r>
          </a:p>
          <a:p>
            <a:r>
              <a:t>Efficient identification of adjacent hexagons.</a:t>
            </a:r>
          </a:p>
          <a:p>
            <a:r>
              <a:t>&lt;50ms</a:t>
            </a:r>
          </a:p>
          <a:p>
            <a:r>
              <a:t>Aggregation</a:t>
            </a:r>
          </a:p>
          <a:p>
            <a:r>
              <a:t>Across 1000 hexagons, enabling real-time insights.</a:t>
            </a:r>
          </a:p>
          <a:p>
            <a:r>
              <a:t>Minimal</a:t>
            </a:r>
          </a:p>
          <a:p>
            <a:r>
              <a:t>Memory Footprint</a:t>
            </a:r>
          </a:p>
          <a:p>
            <a:r>
              <a:t>H3 IDs are 64-bit integers, requiring minimal storage.</a:t>
            </a:r>
          </a:p>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Why H3 is Superior to Other Approaches</a:t>
            </a:r>
          </a:p>
          <a:p/>
          <a:p>
            <a:r>
              <a:t>vs. Square Grids</a:t>
            </a:r>
          </a:p>
          <a:p>
            <a:r>
              <a:t>Equal distance to all neighbors (squares don't).</a:t>
            </a:r>
          </a:p>
          <a:p>
            <a:r>
              <a:t>No ambiguous corner cases or overlaps.</a:t>
            </a:r>
          </a:p>
          <a:p>
            <a:r>
              <a:t>Better representation of circular areas like demand zones.</a:t>
            </a:r>
          </a:p>
          <a:p/>
          <a:p>
            <a:r>
              <a:t>vs. Latitude/Longitude Ranges</a:t>
            </a:r>
          </a:p>
          <a:p>
            <a:r>
              <a:t>Significantly faster queries (O(1) vs. O(n)).</a:t>
            </a:r>
          </a:p>
          <a:p>
            <a:r>
              <a:t>Hierarchical structure for multi-level analysis.</a:t>
            </a:r>
          </a:p>
          <a:p>
            <a:r>
              <a:t>Easier and more precise definition of service boundaries.</a:t>
            </a:r>
          </a:p>
          <a:p/>
          <a:p>
            <a:r>
              <a:t>vs. Geohashing</a:t>
            </a:r>
          </a:p>
          <a:p>
            <a:r>
              <a:t>More intuitive and consistent hierarchical structure.</a:t>
            </a:r>
          </a:p>
          <a:p>
            <a:r>
              <a:t>Superior for proximity queries and neighbor finding.</a:t>
            </a:r>
          </a:p>
          <a:p>
            <a:r>
              <a:t>More efficient for data aggregation and analytics.</a:t>
            </a:r>
          </a:p>
          <a:p>
            <a:r>
              <a:t>H3 in Uber's Ecosystem: Real-World Applications</a:t>
            </a:r>
          </a:p>
          <a:p/>
          <a:p>
            <a:r>
              <a:t>Demand Prediction</a:t>
            </a:r>
          </a:p>
          <a:p>
            <a:r>
              <a:t>"Which hexagons will experience a surge in demand in the next 10 minutes?"</a:t>
            </a:r>
          </a:p>
          <a:p/>
          <a:p>
            <a:r>
              <a:t>Driver Dispatch</a:t>
            </a:r>
          </a:p>
          <a:p>
            <a:r>
              <a:t>"Find the nearest available driver in adjacent hexagons to optimize pickup times."</a:t>
            </a:r>
          </a:p>
          <a:p/>
          <a:p>
            <a:r>
              <a:t>Dynamic Pricing</a:t>
            </a:r>
          </a:p>
          <a:p>
            <a:r>
              <a:t>"Apply granular surge pricing only to specific high-demand hexagons, not entire zones."</a:t>
            </a:r>
          </a:p>
          <a:p/>
          <a:p>
            <a:r>
              <a:t>Operational Monitoring</a:t>
            </a:r>
          </a:p>
          <a:p>
            <a:r>
              <a:t>"Monitor system health and service quality by individual hexagon or aggregated region."</a:t>
            </a:r>
          </a:p>
          <a:p/>
          <a:p>
            <a:r>
              <a:t>Advanced Analytics</a:t>
            </a:r>
          </a:p>
          <a:p>
            <a:r>
              <a:t>"Understand complex demand patterns, traffic flow, and operational efficiency at various resolutions."</a:t>
            </a:r>
          </a:p>
          <a:p/>
        </p:txBody>
      </p:sp>
      <p:sp>
        <p:nvSpPr>
          <p:cNvPr id="3" name="Subtitle 2"/>
          <p:cNvSpPr>
            <a:spLocks noGrp="1"/>
          </p:cNvSpPr>
          <p:nvPr>
            <p:ph type="subTitle"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REAL-TIME OPTIMIZATION</a:t>
            </a:r>
          </a:p>
          <a:p>
            <a:r>
              <a:t>H3 in Action: The Concert Stadium Surge</a:t>
            </a:r>
          </a:p>
          <a:p>
            <a:r>
              <a:t>Imagine 50,000 fans pouring out of a stadium after a major concert, all needing a ride home simultaneously. This is a logistical challenge that H3 tackles with remarkable precision.</a:t>
            </a:r>
          </a:p>
          <a:p>
            <a:r>
              <a:t>Event Detection</a:t>
            </a:r>
          </a:p>
          <a:p>
            <a:r>
              <a:t>The H3 system recognizes the stadium area as a collection of hexagons. As the concert nears its end, sensors and predicted activity signal an upcoming surge in demand.</a:t>
            </a:r>
          </a:p>
          <a:p>
            <a:r>
              <a:t>Demand Surge</a:t>
            </a:r>
          </a:p>
          <a:p>
            <a:r>
              <a:t>Specific hexagons around the stadium quickly "light up" in orange or red, indicating a massive spike in ride requests. Other, distant areas remain 'blue' for low demand.</a:t>
            </a:r>
          </a:p>
          <a:p>
            <a:r>
              <a:t>Driver Deployment</a:t>
            </a:r>
          </a:p>
          <a:p>
            <a:r>
              <a:t>Uber's platform uses this real-time H3 data to instantly direct available drivers to these high-demand hexagons, minimizing passenger wait times and ensuring efficient pickups.</a:t>
            </a:r>
          </a:p>
          <a:p>
            <a:r>
              <a:t>Smart Pricing</a:t>
            </a:r>
          </a:p>
          <a:p>
            <a:r>
              <a:t>Pricing adjustments are localized to just those specific high-demand hexagons, rather than the entire city, making surge pricing fairer and significantly more targeted.</a:t>
            </a:r>
          </a:p>
          <a:p>
            <a:r>
              <a:t>Without H3, a concert exodus might trigger city-wide surge pricing. With H3, only the precise areas experiencing high demand are affected, ensuring fairness for riders and efficient matching for drivers.</a:t>
            </a:r>
          </a:p>
          <a:p/>
        </p:txBody>
      </p:sp>
      <p:sp>
        <p:nvSpPr>
          <p:cNvPr id="3" name="Subtitle 2"/>
          <p:cNvSpPr>
            <a:spLocks noGrp="1"/>
          </p:cNvSpPr>
          <p:nvPr>
            <p:ph type="subTitle"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Stream Processing: Turning Raw Data Into Actionable Insights</a:t>
            </a:r>
          </a:p>
          <a:p>
            <a:r>
              <a:t>Think of Uber's Stream Processing as a highly automated, super-fast factory assembly line for data. Every tiny bit of information – from a rider opening the app to a driver completing a trip – is a raw ingredient. This "data factory" instantly processes these ingredients to create valuable insights and enable real-time actions, driving the entire Uber experience.</a:t>
            </a:r>
          </a:p>
          <a:p/>
          <a:p>
            <a:r>
              <a:t>Step 1: Data Influx</a:t>
            </a:r>
          </a:p>
          <a:p>
            <a:r>
              <a:t>Imagine raw materials arriving at the factory. This is where all live data, like GPS locations, ride requests, payment confirmations, and user interactions, floods in from every corner of the Uber platform.</a:t>
            </a:r>
          </a:p>
          <a:p/>
          <a:p>
            <a:r>
              <a:t>Step 2: Real-Time Refinement</a:t>
            </a:r>
          </a:p>
          <a:p>
            <a:r>
              <a:t>Just like components are shaped and refined on an assembly line, raw data is instantly cleaned, organized, and enriched. We calculate ride estimates, spot unusual activity, and add important context in milliseconds.</a:t>
            </a:r>
          </a:p>
          <a:p/>
          <a:p>
            <a:r>
              <a:t>Step 3: Smart Decision-Making</a:t>
            </a:r>
          </a:p>
          <a:p>
            <a:r>
              <a:t>Here, the factory assembles the final product or makes critical adjustments. Our systems apply business rules for things like dynamic pricing (surge), matching riders with drivers, flagging potential fraud, and ensuring regulatory compliance – all in real-time.</a:t>
            </a:r>
          </a:p>
          <a:p/>
          <a:p>
            <a:r>
              <a:t>Step 4: Insight Delivery</a:t>
            </a:r>
          </a:p>
          <a:p>
            <a:r>
              <a:t>The finished products (insights and actions) are immediately dispatched. This means updated maps for riders, new ride offers for drivers, real-time analytics for operations teams, and instant feedback for our machine learning models, ensuring a seamless experience.</a:t>
            </a:r>
          </a:p>
          <a:p>
            <a:r>
              <a:t>Key Business Benefits</a:t>
            </a:r>
          </a:p>
          <a:p>
            <a:r>
              <a:t>Instant Responsiveness: Uber's platform reacts immediately to real-world events, from traffic changes to sudden demand spikes.</a:t>
            </a:r>
          </a:p>
          <a:p>
            <a:r>
              <a:t>Guaranteed Accuracy: Ensures every transaction and calculation is precise, preventing errors and building trust.</a:t>
            </a:r>
          </a:p>
          <a:p>
            <a:r>
              <a:t>Massive Scale: Handles millions of simultaneous events globally without missing a beat, supporting Uber's vast network.</a:t>
            </a:r>
          </a:p>
          <a:p>
            <a:r>
              <a:t>Operational Agility: Allows different teams to innovate and deploy new features independently and quickly.</a:t>
            </a:r>
          </a:p>
          <a:p>
            <a:r>
              <a:t>Real-World Impact Examples</a:t>
            </a:r>
          </a:p>
          <a:p>
            <a:r>
              <a:t>Dynamic ETA Calculations: Accurately predicts arrival times based on live traffic and historical patterns.</a:t>
            </a:r>
          </a:p>
          <a:p>
            <a:r>
              <a:t>Surge Pricing: Automatically adjusts fares based on real-time supply and demand to balance the marketplace.</a:t>
            </a:r>
          </a:p>
          <a:p>
            <a:r>
              <a:t>Fraud Detection: Instantly identifies and blocks suspicious payment or trip patterns to protect users.</a:t>
            </a:r>
          </a:p>
          <a:p>
            <a:r>
              <a:t>Driver Incentives: Calculates earnings and bonus eligibility in real-time, ensuring fair and timely payouts.</a:t>
            </a:r>
          </a:p>
          <a:p/>
        </p:txBody>
      </p:sp>
      <p:sp>
        <p:nvSpPr>
          <p:cNvPr id="3" name="Subtitle 2"/>
          <p:cNvSpPr>
            <a:spLocks noGrp="1"/>
          </p:cNvSpPr>
          <p:nvPr>
            <p:ph type="subTitle"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DATA STORAGE</a:t>
            </a:r>
          </a:p>
          <a:p>
            <a:r>
              <a:t>Multi-Database Strategy: The Right Tool for Every Job</a:t>
            </a:r>
          </a:p>
          <a:p>
            <a:r>
              <a:t>At Uber, we don't use a single "one-size-fits-all" database. Instead, we strategically choose different types of databases, each like a specialized tool in a toolbox, to handle various kinds of data and business needs most effectively. This ensures maximum efficiency, speed, and reliability across our entire platform.</a:t>
            </a:r>
          </a:p>
          <a:p/>
          <a:p>
            <a:r>
              <a:t>Apache Cassandra: The Endless Activity Log</a:t>
            </a:r>
          </a:p>
          <a:p>
            <a:r>
              <a:t>Imagine a super-fast, infinitely growing journal that never slows down. Cassandra is perfect for recording streams of information as they happen. It excels at handling massive volumes of incoming data, like location updates, making it ideal for:</a:t>
            </a:r>
          </a:p>
          <a:p>
            <a:r>
              <a:t>Real-time Tracking: Powering live maps with driver and rider locations.</a:t>
            </a:r>
          </a:p>
          <a:p>
            <a:r>
              <a:t>Event Timelines: Recording every action in a trip, second by second.</a:t>
            </a:r>
          </a:p>
          <a:p>
            <a:r>
              <a:t>IoT Data: Handling sensor data from connected vehicles.</a:t>
            </a:r>
          </a:p>
          <a:p/>
          <a:p>
            <a:r>
              <a:t>PostgreSQL: The Secure Financial Ledger</a:t>
            </a:r>
          </a:p>
          <a:p>
            <a:r>
              <a:t>This is our digital vault for critical, precise records. PostgreSQL ensures every transaction is perfectly accurate and reliable, much like a bank's ledger. It's chosen when data integrity and complex relationships are paramount, such as for:</a:t>
            </a:r>
          </a:p>
          <a:p>
            <a:r>
              <a:t>Payment Processing: Securely handling all financial transactions.</a:t>
            </a:r>
          </a:p>
          <a:p>
            <a:r>
              <a:t>User Profiles: Storing core user accounts and personal information.</a:t>
            </a:r>
          </a:p>
          <a:p>
            <a:r>
              <a:t>Trip Bookings: Managing the details and states of every ride request.</a:t>
            </a:r>
          </a:p>
          <a:p/>
          <a:p>
            <a:r>
              <a:t>Hadoop/Hive: The Giant Historical Archive</a:t>
            </a:r>
          </a:p>
          <a:p>
            <a:r>
              <a:t>Think of this as our massive, cost-effective library for all historical data. Hadoop/Hive allows us to store petabytes of past information and analyze it to uncover trends and make strategic decisions. It's essential for:</a:t>
            </a:r>
          </a:p>
          <a:p>
            <a:r>
              <a:t>Business Intelligence: Analyzing past trip patterns for market insights.</a:t>
            </a:r>
          </a:p>
          <a:p>
            <a:r>
              <a:t>Regulatory Compliance: Storing data needed for audits and legal requirements.</a:t>
            </a:r>
          </a:p>
          <a:p>
            <a:r>
              <a:t>Machine Learning: Providing vast datasets to train our AI models.</a:t>
            </a:r>
          </a:p>
          <a:p/>
          <a:p>
            <a:r>
              <a:t>Redis/In-Memory Caches: The Lightning-Fast Scratchpad</a:t>
            </a:r>
          </a:p>
          <a:p>
            <a:r>
              <a:t>This is our ultra-speedy, temporary storage for information needed right now. Redis and other in-memory caches keep frequently accessed data instantly available, like a chef's mise en place, reducing strain on primary systems. This is crucial for:</a:t>
            </a:r>
          </a:p>
          <a:p>
            <a:r>
              <a:t>Dynamic Pricing: Instantly calculating surge and fare estimates.</a:t>
            </a:r>
          </a:p>
          <a:p>
            <a:r>
              <a:t>Driver Availability: Tracking who's online and ready for a ride.</a:t>
            </a:r>
          </a:p>
          <a:p>
            <a:r>
              <a:t>User Sessions: Managing active user interactions for a seamless app experience.</a:t>
            </a:r>
          </a:p>
          <a:p/>
        </p:txBody>
      </p:sp>
      <p:sp>
        <p:nvSpPr>
          <p:cNvPr id="3" name="Subtitle 2"/>
          <p:cNvSpPr>
            <a:spLocks noGrp="1"/>
          </p:cNvSpPr>
          <p:nvPr>
            <p:ph type="subTitle"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How Multi-Database Strategy Integrates with Real-Time Architecture</a:t>
            </a:r>
          </a:p>
          <a:p>
            <a:r>
              <a:t>Uber's data infrastructure is a sophisticated ecosystem where real-time stream processing acts as the central nervous system, intelligently routing and transforming data across a specialized array of databases. Each database is chosen for its unique strengths, ensuring optimal performance, integrity, and scalability across the platform.</a:t>
            </a:r>
          </a:p>
          <a:p>
            <a:r>
              <a:t>Applications &amp; Analytics</a:t>
            </a:r>
          </a:p>
          <a:p>
            <a:r>
              <a:t>Multi Databases</a:t>
            </a:r>
          </a:p>
          <a:p>
            <a:r>
              <a:t>Stream Processing</a:t>
            </a:r>
          </a:p>
          <a:p>
            <a:r>
              <a:t>Data Sources</a:t>
            </a:r>
          </a:p>
          <a:p>
            <a:r>
              <a:t>Specialized Database Roles in Action</a:t>
            </a:r>
          </a:p>
          <a:p/>
          <a:p/>
          <a:p>
            <a:r>
              <a:t>Redis: Hot Storage (Millisecond Access)</a:t>
            </a:r>
          </a:p>
          <a:p>
            <a:r>
              <a:t>What: Current driver locations, active rider requests, surge pricing, user sessions.</a:t>
            </a:r>
          </a:p>
          <a:p>
            <a:r>
              <a:t>Why: Requires instant access and &lt;1ms latency for real-time interactions.</a:t>
            </a:r>
          </a:p>
          <a:p>
            <a:r>
              <a:t>How: In-memory storage for extremely fast reads/writes.</a:t>
            </a:r>
          </a:p>
          <a:p>
            <a:r>
              <a:t>Example: When a rider opens the app, their nearby drivers' locations are instantly retrieved.</a:t>
            </a:r>
          </a:p>
          <a:p>
            <a:r>
              <a:t>Lifespan: Hours to days (temporary, frequently accessed data).</a:t>
            </a:r>
          </a:p>
          <a:p/>
          <a:p/>
          <a:p>
            <a:r>
              <a:t>PostgreSQL: Transactional (Accuracy &amp; Consistency)</a:t>
            </a:r>
          </a:p>
          <a:p>
            <a:r>
              <a:t>What: User accounts, payment records, trip bookings, driver profiles.</a:t>
            </a:r>
          </a:p>
          <a:p>
            <a:r>
              <a:t>Why: Demands ACID compliance (Atomicity, Consistency, Isolation, Durability) for financial and critical data.</a:t>
            </a:r>
          </a:p>
          <a:p>
            <a:r>
              <a:t>How: Relational database with strong consistency guarantees.</a:t>
            </a:r>
          </a:p>
          <a:p>
            <a:r>
              <a:t>Example: Every payment transaction is recorded here to prevent monetary discrepancies.</a:t>
            </a:r>
          </a:p>
          <a:p>
            <a:r>
              <a:t>Lifespan: Permanent (critical business data).</a:t>
            </a:r>
          </a:p>
          <a:p/>
          <a:p/>
          <a:p>
            <a:r>
              <a:t>Cassandra: Warm Storage (High Throughput)</a:t>
            </a:r>
          </a:p>
          <a:p>
            <a:r>
              <a:t>What: GPS location history, trip events, sensor readings, user interactions.</a:t>
            </a:r>
          </a:p>
          <a:p>
            <a:r>
              <a:t>Why: Built to handle millions of writes per second without performance degradation.</a:t>
            </a:r>
          </a:p>
          <a:p>
            <a:r>
              <a:t>How: Distributed NoSQL database, horizontally scalable across many servers.</a:t>
            </a:r>
          </a:p>
          <a:p>
            <a:r>
              <a:t>Example: Millions of GPS updates from active drivers are continuously written to Cassandra.</a:t>
            </a:r>
          </a:p>
          <a:p>
            <a:r>
              <a:t>Lifespan: Days to weeks (recent data for quick access and analysis).</a:t>
            </a:r>
          </a:p>
          <a:p/>
          <a:p/>
          <a:p>
            <a:r>
              <a:t>Hadoop/Hive: Cold Storage (Historical Analysis)</a:t>
            </a:r>
          </a:p>
          <a:p>
            <a:r>
              <a:t>What: Complete trip history, aggregated statistics, ML training data.</a:t>
            </a:r>
          </a:p>
          <a:p>
            <a:r>
              <a:t>Why: Provides cost-effective storage for petabytes of historical data for long-term analysis.</a:t>
            </a:r>
          </a:p>
          <a:p>
            <a:r>
              <a:t>How: Distributed file system optimized for batch processing of large datasets.</a:t>
            </a:r>
          </a:p>
          <a:p>
            <a:r>
              <a:t>Example: Analyzing five years of trip data to identify long-term demand trends by city segment.</a:t>
            </a:r>
          </a:p>
          <a:p>
            <a:r>
              <a:t>Lifespan: Months to years (permanent archive).</a:t>
            </a:r>
          </a:p>
          <a:p>
            <a:r>
              <a:t>Data Flow Example: A Complete Rider Request</a:t>
            </a:r>
          </a:p>
          <a:p/>
          <a:p>
            <a:r>
              <a:t>1</a:t>
            </a:r>
          </a:p>
          <a:p>
            <a:r>
              <a:t>Rider App Interaction</a:t>
            </a:r>
          </a:p>
          <a:p>
            <a:r>
              <a:t>Rider opens app: Location data, destination input sent to Stream Processing.</a:t>
            </a:r>
          </a:p>
          <a:p/>
          <a:p>
            <a:r>
              <a:t>2</a:t>
            </a:r>
          </a:p>
          <a:p>
            <a:r>
              <a:t>Real-time Display</a:t>
            </a:r>
          </a:p>
          <a:p>
            <a:r>
              <a:t>Stream Processor routes nearby driver locations to Redis for instant display on the rider's map.</a:t>
            </a:r>
          </a:p>
          <a:p/>
          <a:p>
            <a:r>
              <a:t>3</a:t>
            </a:r>
          </a:p>
          <a:p>
            <a:r>
              <a:t>Recent History Logging</a:t>
            </a:r>
          </a:p>
          <a:p>
            <a:r>
              <a:t>Simultaneously, location data is also sent to Cassandra for a short-term, high-volume activity log.</a:t>
            </a:r>
          </a:p>
          <a:p/>
          <a:p>
            <a:r>
              <a:t>4</a:t>
            </a:r>
          </a:p>
          <a:p>
            <a:r>
              <a:t>Transaction Record</a:t>
            </a:r>
          </a:p>
          <a:p>
            <a:r>
              <a:t>Trip booking details (fare, driver, rider, route) are securely stored in PostgreSQL upon confirmation.</a:t>
            </a:r>
          </a:p>
          <a:p/>
          <a:p>
            <a:r>
              <a:t>5</a:t>
            </a:r>
          </a:p>
          <a:p>
            <a:r>
              <a:t>Long-term Archiving</a:t>
            </a:r>
          </a:p>
          <a:p>
            <a:r>
              <a:t>At the end of the day, trip data from Cassandra and PostgreSQL is archived into Hadoop/Hive for long-term storage.</a:t>
            </a:r>
          </a:p>
          <a:p/>
          <a:p>
            <a:r>
              <a:t>6</a:t>
            </a:r>
          </a:p>
          <a:p>
            <a:r>
              <a:t>Insights &amp; Feedback</a:t>
            </a:r>
          </a:p>
          <a:p>
            <a:r>
              <a:t>Analytics teams query Hadoop to understand demand patterns, feeding insights back to Stream Processing to refine surge pricing models and driver dispatch logic.</a:t>
            </a:r>
          </a:p>
          <a:p>
            <a:r>
              <a:t>Why This Multi-Database Approach Matters</a:t>
            </a:r>
          </a:p>
          <a:p/>
          <a:p/>
          <a:p>
            <a:r>
              <a:t>Redis</a:t>
            </a:r>
          </a:p>
          <a:p>
            <a:r>
              <a:t>&lt;1ms</a:t>
            </a:r>
          </a:p>
          <a:p>
            <a:r>
              <a:t>Millions</a:t>
            </a:r>
          </a:p>
          <a:p>
            <a:r>
              <a:t>Hours-Days</a:t>
            </a:r>
          </a:p>
          <a:p>
            <a:r>
              <a:t>Caching, Real-time state</a:t>
            </a:r>
          </a:p>
          <a:p>
            <a:r>
              <a:t>High</a:t>
            </a:r>
          </a:p>
          <a:p/>
          <a:p>
            <a:r>
              <a:t>PostgreSQL</a:t>
            </a:r>
          </a:p>
          <a:p>
            <a:r>
              <a:t>5-100ms</a:t>
            </a:r>
          </a:p>
          <a:p>
            <a:r>
              <a:t>Thousands</a:t>
            </a:r>
          </a:p>
          <a:p>
            <a:r>
              <a:t>Permanent</a:t>
            </a:r>
          </a:p>
          <a:p>
            <a:r>
              <a:t>Transactional, User data</a:t>
            </a:r>
          </a:p>
          <a:p>
            <a:r>
              <a:t>Medium</a:t>
            </a:r>
          </a:p>
          <a:p/>
          <a:p>
            <a:r>
              <a:t>Cassandra</a:t>
            </a:r>
          </a:p>
          <a:p>
            <a:r>
              <a:t>5-50ms</a:t>
            </a:r>
          </a:p>
          <a:p>
            <a:r>
              <a:t>Millions</a:t>
            </a:r>
          </a:p>
          <a:p>
            <a:r>
              <a:t>Days-Weeks</a:t>
            </a:r>
          </a:p>
          <a:p>
            <a:r>
              <a:t>Time-series, Event logs</a:t>
            </a:r>
          </a:p>
          <a:p>
            <a:r>
              <a:t>Low-Medium</a:t>
            </a:r>
          </a:p>
          <a:p/>
          <a:p>
            <a:r>
              <a:t>Hadoop/Hive</a:t>
            </a:r>
          </a:p>
          <a:p>
            <a:r>
              <a:t>Seconds-Minutes (Batch)</a:t>
            </a:r>
          </a:p>
          <a:p>
            <a:r>
              <a:t>Billions (Batch)</a:t>
            </a:r>
          </a:p>
          <a:p>
            <a:r>
              <a:t>Months-Years</a:t>
            </a:r>
          </a:p>
          <a:p>
            <a:r>
              <a:t>Big Data Analytics, ML Training</a:t>
            </a:r>
          </a:p>
          <a:p>
            <a:r>
              <a:t>Very Low</a:t>
            </a:r>
          </a:p>
          <a:p>
            <a:r>
              <a:t>Performance: Each database is purpose-built and optimized for its specific data type and access pattern.</a:t>
            </a:r>
          </a:p>
          <a:p>
            <a:r>
              <a:t>Reliability: Critical data like payments benefit from the robust ACID compliance of relational systems.</a:t>
            </a:r>
          </a:p>
          <a:p>
            <a:r>
              <a:t>Scalability: The distributed nature of many systems allows handling millions of events per second and petabytes of data.</a:t>
            </a:r>
          </a:p>
          <a:p>
            <a:r>
              <a:t>Cost-Efficiency: Hot, transient data resides in expensive in-memory stores, while massive archives use cost-effective storage solutions.</a:t>
            </a:r>
          </a:p>
          <a:p>
            <a:r>
              <a:t>Flexibility: New data types or business requirements can be met by integrating new specialized databases without overhauling the entire architecture.</a:t>
            </a:r>
          </a:p>
          <a:p/>
        </p:txBody>
      </p:sp>
      <p:sp>
        <p:nvSpPr>
          <p:cNvPr id="3" name="Subtitle 2"/>
          <p:cNvSpPr>
            <a:spLocks noGrp="1"/>
          </p:cNvSpPr>
          <p:nvPr>
            <p:ph type="subTitle"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Real-Time Use Cases: Data Architecture in Action</a:t>
            </a:r>
          </a:p>
          <a:p>
            <a:r>
              <a:t>Instant Driver Matching: Your Ride, On Demand</a:t>
            </a:r>
          </a:p>
          <a:p>
            <a:r>
              <a:t>Ever wonder how your ride appears almost instantly after you tap 'request'? Our powerful systems spring into action, rapidly scanning for the perfect driver nearby. We factor in everything from their live location to their past reliability, connecting you with an optimal match in just 1-2 seconds. This ultra-fast process doesn't just reduce your wait time; it boosts customer satisfaction and keeps our drivers efficiently on the move, leading to more completed trips and higher earnings for them.</a:t>
            </a:r>
          </a:p>
          <a:p>
            <a:r>
              <a:t>Smart Surge Pricing: Ensuring Rides Are Always Available</a:t>
            </a:r>
          </a:p>
          <a:p>
            <a:r>
              <a:t>During peak hours or bad weather, demand for rides can skyrocket. Our dynamic surge pricing isn't just about higher fares—it's about ensuring a ride is *always* available when you need it most. By constantly monitoring demand and driver availability across the city, we instantly adjust prices. This encourages more drivers to get on the road, guaranteeing service availability and optimizing revenue for the platform, all while being transparent with riders about the fare.</a:t>
            </a:r>
          </a:p>
          <a:p>
            <a:r>
              <a:t>Precise ETA Predictions: Peace of Mind for Every Journey</a:t>
            </a:r>
          </a:p>
          <a:p>
            <a:r>
              <a:t>"When will my ride arrive?" is a common question. Our sophisticated machine learning models, trained on millions of past trips and fed with real-time traffic data, provide remarkably accurate estimated times of arrival. Your ETA is continuously updated as conditions change, giving you peace of mind and reducing anxiety. This commitment to accuracy significantly enhances rider experience, leading to higher ratings and repeat business.</a:t>
            </a:r>
          </a:p>
          <a:p>
            <a:r>
              <a:t>Real-Time Fraud Detection: Protecting Every Transaction</a:t>
            </a:r>
          </a:p>
          <a:p>
            <a:r>
              <a:t>In a world of constant digital transactions, trust and security are paramount. Our advanced pattern recognition algorithms tirelessly analyze every trip and payment event as it happens, flagging suspicious activities like GPS spoofing or payment fraud the instant they occur. This robust, automated system can block fraudulent transactions immediately, safeguarding both our customers' financial security and the company's integrity, potentially saving millions in losses annually.</a:t>
            </a:r>
          </a:p>
          <a:p/>
        </p:txBody>
      </p:sp>
      <p:sp>
        <p:nvSpPr>
          <p:cNvPr id="3" name="Subtitle 2"/>
          <p:cNvSpPr>
            <a:spLocks noGrp="1"/>
          </p:cNvSpPr>
          <p:nvPr>
            <p:ph type="subTitle" idx="1"/>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p>
            <a:r>
              <a:t>RELIABILITY &amp; SCALE</a:t>
            </a:r>
          </a:p>
          <a:p>
            <a:r>
              <a:t>Uninterrupted Service: Building Systems That Never Fail You</a:t>
            </a:r>
          </a:p>
          <a:p>
            <a:r>
              <a:t>Imagine a world where your essential services just... stop. At Uber, we understand that reliability isn't just a technical term – it's the bedrock of customer trust and business success. Our architecture is engineered to be as robust as a city's emergency services, designed to perform perfectly even when unexpected events occur, ensuring your journey is always smooth and secure.</a:t>
            </a:r>
          </a:p>
          <a:p>
            <a:r>
              <a:t>Our Digital Safety Nets: Handling Any Hiccup</a:t>
            </a:r>
          </a:p>
          <a:p>
            <a:r>
              <a:t>Just like a city has multiple power lines and backup generators to prevent blackouts, our system is built to withstand failures at every turn. We assume things *will* go wrong, so our systems are ready for anything, preventing disruptions before they even impact you.</a:t>
            </a:r>
          </a:p>
          <a:p>
            <a:r>
              <a:t>Kafka Replication: Always a Backup! Every piece of crucial information (like your ride request) is copied and stored in multiple locations. If one server goes down, another instantly takes over, so your data is never lost, and your ride request is always processed.</a:t>
            </a:r>
          </a:p>
          <a:p>
            <a:r>
              <a:t>Flink Checkpointing: Picking Up Where We Left Off. For complex tasks like tracking your driver's route, our system regularly saves its progress. If something unexpected happens, it simply restarts from the last save point, ensuring every calculation is correct and no detail is missed.</a:t>
            </a:r>
          </a:p>
          <a:p>
            <a:r>
              <a:t>Database Redundancy: Your Data, Protected. Our main databases always have active standbys. It's like having a duplicate brain for all our operations. If the primary system falters, the backup seamlessly steps in, guaranteeing continuous access to vital information.</a:t>
            </a:r>
          </a:p>
          <a:p>
            <a:r>
              <a:t>Circuit Breakers: Preventing a Domino Effect. If one part of our system gets overwhelmed, like a busy street during rush hour, our "circuit breakers" kick in. Instead of letting the problem spread and cause a system-wide crash, they isolate the issue, ensuring other services remain unaffected and responsive.</a:t>
            </a:r>
          </a:p>
          <a:p>
            <a:r>
              <a:t>Seeing Everything: Our Eyes on the System</a:t>
            </a:r>
          </a:p>
          <a:p>
            <a:r>
              <a:t>Think of it like a control tower monitoring every flight, or a doctor checking vital signs. We constantly watch over our entire digital infrastructure, from individual servers to broad trends, to catch and fix issues often before they even become noticeable.</a:t>
            </a:r>
          </a:p>
          <a:p>
            <a:r>
              <a:t>Kafka Lag Monitoring: We instantly know if information isn't flowing as fast as it should, preventing bottlenecks.</a:t>
            </a:r>
          </a:p>
          <a:p>
            <a:r>
              <a:t>Flink Job Metrics: We track how efficiently our data processing is running, ensuring rapid responses.</a:t>
            </a:r>
          </a:p>
          <a:p>
            <a:r>
              <a:t>Database Performance Metrics: Constant checks ensure our data is always accessible and performing optimally.</a:t>
            </a:r>
          </a:p>
          <a:p>
            <a:r>
              <a:t>Application-Level Metrics: We monitor key business indicators, like how many rides are completed, to ensure our services meet expectations.</a:t>
            </a:r>
          </a:p>
          <a:p>
            <a:r>
              <a:t>Distributed Tracing: Like a GPS for every request, we can follow its journey through our complex system to pinpoint any slowdowns.</a:t>
            </a:r>
          </a:p>
          <a:p>
            <a:r>
              <a:t>99.99%</a:t>
            </a:r>
          </a:p>
          <a:p>
            <a:r>
              <a:t>Rock-Solid Uptime</a:t>
            </a:r>
          </a:p>
          <a:p>
            <a:r>
              <a:t>Our commitment to near-perfect annual availability means rides are always there when you need them, protecting your peace of mind and our revenue.</a:t>
            </a:r>
          </a:p>
          <a:p>
            <a:r>
              <a:t>&lt;100ms</a:t>
            </a:r>
          </a:p>
          <a:p>
            <a:r>
              <a:t>Lightning-Fast Responses</a:t>
            </a:r>
          </a:p>
          <a:p>
            <a:r>
              <a:t>Rapid response times for critical operations enhance user experience and maintain customer satisfaction.</a:t>
            </a:r>
          </a:p>
          <a:p>
            <a:r>
              <a:t>10M+</a:t>
            </a:r>
          </a:p>
          <a:p>
            <a:r>
              <a:t>Massive Scale, Seamlessly Handled</a:t>
            </a:r>
          </a:p>
          <a:p>
            <a:r>
              <a:t>Processing millions of events per second ensures our platform can handle peak demand without breaking a sweat, supporting global growth.</a:t>
            </a:r>
          </a:p>
          <a:p/>
        </p:txBody>
      </p:sp>
      <p:sp>
        <p:nvSpPr>
          <p:cNvPr id="3" name="Subtitle 2"/>
          <p:cNvSpPr>
            <a:spLocks noGrp="1"/>
          </p:cNvSpPr>
          <p:nvPr>
            <p:ph type="subTitle"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ADVANCED CAPABILITIES</a:t>
            </a:r>
          </a:p>
          <a:p>
            <a:r>
              <a:t>Our Brains Behind the Wheel: Smart Decisions, Real-Time Impact</a:t>
            </a:r>
          </a:p>
          <a:p>
            <a:r>
              <a:t>Imagine a sophisticated brain constantly analyzing, learning, and predicting, making Uber's operations smarter, faster, and more efficient. That's our powerful Machine Learning and Analytics system at work – transforming raw data into lightning-fast, intelligent actions that drive our business forward and enhance every user's experience.</a:t>
            </a:r>
          </a:p>
          <a:p>
            <a:r>
              <a:t>Predictive Power: Real-Time Intelligence in Action</a:t>
            </a:r>
          </a:p>
          <a:p>
            <a:r>
              <a:t>Like an experienced doctor diagnosing symptoms in real-time, our system uses thousands of predictive models. These models continuously analyze live events – from traffic changes to ride requests – to make instant, impactful decisions. They learn from vast historical data but act in the present moment, ensuring Uber is always a step ahead.</a:t>
            </a:r>
          </a:p>
          <a:p>
            <a:r>
              <a:t>This translates to tangible benefits like:</a:t>
            </a:r>
          </a:p>
          <a:p>
            <a:r>
              <a:t>Anticipating Demand: Predicting where and when riders will need a trip, so we can intelligently position drivers and minimize wait times.</a:t>
            </a:r>
          </a:p>
          <a:p>
            <a:r>
              <a:t>Optimizing Routes: Guiding drivers on the fastest, most efficient paths, accounting for live traffic, road conditions, and even historical patterns of congestion.</a:t>
            </a:r>
          </a:p>
          <a:p>
            <a:r>
              <a:t>Dynamic Pricing: Smartly adjusting prices in real-time to perfectly balance the availability of rides with rider demand, ensuring a reliable service.</a:t>
            </a:r>
          </a:p>
          <a:p>
            <a:r>
              <a:t>Instant Fraud Detection: Spotting suspicious payment or trip activity in milliseconds, protecting both riders and drivers from fraudulent behavior.</a:t>
            </a:r>
          </a:p>
          <a:p>
            <a:r>
              <a:t>Boosting Driver Success: Understanding what keeps drivers happy and productive, helping us tailor incentives and support to ensure a vibrant driver community.</a:t>
            </a:r>
          </a:p>
          <a:p>
            <a:r>
              <a:t>The Data Storytellers: Crafting Insights for Smarter Models</a:t>
            </a:r>
          </a:p>
          <a:p>
            <a:r>
              <a:t>Think of it like a sports coach meticulously reviewing game footage. To make truly intelligent predictions, our ML models need the best "stories" about what's happening. Our feature engineering pipeline continuously gathers, refines, and stores critical pieces of information – we call these "features" – from all corners of our platform, in real-time:</a:t>
            </a:r>
          </a:p>
          <a:p>
            <a:r>
              <a:t>Driver Performance: Key stats like how often a driver accepts rides, their cancellation rate, and average rating.</a:t>
            </a:r>
          </a:p>
          <a:p>
            <a:r>
              <a:t>Rider Habits: Understanding how often a rider takes trips, their typical journey length, and preferred times of day.</a:t>
            </a:r>
          </a:p>
          <a:p>
            <a:r>
              <a:t>Location Intelligence: Real-time traffic flows, popular pickup and drop-off points, and event hot-zones.</a:t>
            </a:r>
          </a:p>
          <a:p>
            <a:r>
              <a:t>Timely Context: Factors like the time of day, day of the week, holidays, and major events influencing behavior.</a:t>
            </a:r>
          </a:p>
          <a:p>
            <a:r>
              <a:t>This process ensures our models always have the most accurate and up-to-date context, preventing confusion and allowing them to make consistently brilliant decisions, just like a coach uses detailed stats to win games.</a:t>
            </a:r>
          </a:p>
          <a:p/>
          <a:p/>
          <a:p/>
          <a:p>
            <a:r>
              <a:t>1</a:t>
            </a:r>
          </a:p>
          <a:p>
            <a:r>
              <a:t>Gathering the Raw Information</a:t>
            </a:r>
          </a:p>
          <a:p>
            <a:r>
              <a:t>Every tap, swipe, and trip generates a continuous stream of data, flowing in instantly from our apps and services.</a:t>
            </a:r>
          </a:p>
          <a:p/>
          <a:p/>
          <a:p>
            <a:r>
              <a:t>2</a:t>
            </a:r>
          </a:p>
          <a:p>
            <a:r>
              <a:t>Transforming Data into Insights</a:t>
            </a:r>
          </a:p>
          <a:p>
            <a:r>
              <a:t>This raw data is immediately processed, calculating crucial "features" (those meaningful stories) and updating our knowledge base in real-time.</a:t>
            </a:r>
          </a:p>
          <a:p/>
          <a:p/>
          <a:p>
            <a:r>
              <a:t>3</a:t>
            </a:r>
          </a:p>
          <a:p>
            <a:r>
              <a:t>Making Instant Predictions</a:t>
            </a:r>
          </a:p>
          <a:p>
            <a:r>
              <a:t>Our ML models leverage these fresh insights to make incredibly fast predictions – often in under 10 milliseconds – like a seasoned weather forecaster predicting a sudden storm.</a:t>
            </a:r>
          </a:p>
          <a:p/>
          <a:p/>
          <a:p>
            <a:r>
              <a:t>4</a:t>
            </a:r>
          </a:p>
          <a:p>
            <a:r>
              <a:t>Triggering Smart Actions</a:t>
            </a:r>
          </a:p>
          <a:p>
            <a:r>
              <a:t>These rapid predictions directly power actions across the platform: adjusting prices, sending driver alerts, or flagging potential fraud – all happening automatically and precisely.</a:t>
            </a:r>
          </a:p>
          <a:p/>
        </p:txBody>
      </p:sp>
      <p:sp>
        <p:nvSpPr>
          <p:cNvPr id="3" name="Subtitle 2"/>
          <p:cNvSpPr>
            <a:spLocks noGrp="1"/>
          </p:cNvSpPr>
          <p:nvPr>
            <p:ph type="subTitle"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AI/ML CORE</a:t>
            </a:r>
          </a:p>
          <a:p>
            <a:r>
              <a:t>AI/ML Architecture: Real-Time Intelligence at Scale</a:t>
            </a:r>
          </a:p>
          <a:p>
            <a:r>
              <a:t>Uber's operations are powered by a sophisticated, real-time AI/ML architecture that processes vast amounts of data to make intelligent decisions in milliseconds. This system is designed for extreme scale, low latency, and continuous learning, ensuring a seamless and efficient experience for riders and drivers worldwide.</a:t>
            </a:r>
          </a:p>
          <a:p>
            <a:r>
              <a:t>Decision &amp; Output</a:t>
            </a:r>
          </a:p>
          <a:p>
            <a:r>
              <a:t>ML Model</a:t>
            </a:r>
          </a:p>
          <a:p>
            <a:r>
              <a:t>Feature Engineering</a:t>
            </a:r>
          </a:p>
          <a:p>
            <a:r>
              <a:t>Data Ingestion</a:t>
            </a:r>
          </a:p>
          <a:p>
            <a:r>
              <a:t>Michelangelo: Uber's Machine Learning Platform</a:t>
            </a:r>
          </a:p>
          <a:p>
            <a:r>
              <a:t>Michelangelo is our end-to-end ML platform that empowers teams to build, deploy, and manage machine learning systems at scale. It provides a comprehensive suite of tools and infrastructure to accelerate the development of intelligent features across all Uber services.</a:t>
            </a:r>
          </a:p>
          <a:p/>
          <a:p/>
          <a:p>
            <a:r>
              <a:t>Model Development</a:t>
            </a:r>
          </a:p>
          <a:p>
            <a:r>
              <a:t>Jupyter notebooks and feature engineering tools streamline the creation of new models.</a:t>
            </a:r>
          </a:p>
          <a:p/>
          <a:p/>
          <a:p>
            <a:r>
              <a:t>Training Infrastructure</a:t>
            </a:r>
          </a:p>
          <a:p>
            <a:r>
              <a:t>Distributed training on Apache Spark and Horovod handles massive datasets efficiently.</a:t>
            </a:r>
          </a:p>
          <a:p/>
          <a:p/>
          <a:p>
            <a:r>
              <a:t>Model Serving</a:t>
            </a:r>
          </a:p>
          <a:p>
            <a:r>
              <a:t>Real-time inference APIs and batch prediction jobs ensure models are always available.</a:t>
            </a:r>
          </a:p>
          <a:p/>
          <a:p/>
          <a:p>
            <a:r>
              <a:t>Monitoring &amp; Management</a:t>
            </a:r>
          </a:p>
          <a:p>
            <a:r>
              <a:t>Track model performance, conduct A/B tests, and manage deployments with ease.</a:t>
            </a:r>
          </a:p>
          <a:p/>
          <a:p/>
          <a:p>
            <a:r>
              <a:t>Feature Store</a:t>
            </a:r>
          </a:p>
          <a:p>
            <a:r>
              <a:t>Centralized management and serving of features for consistent and efficient ML.</a:t>
            </a:r>
          </a:p>
          <a:p>
            <a:r>
              <a:t>Real-Time ML Pipeline Flow</a:t>
            </a:r>
          </a:p>
          <a:p>
            <a:r>
              <a:t>Our ML pipeline operates continuously, transforming raw events into actionable intelligence with incredible speed.</a:t>
            </a:r>
          </a:p>
          <a:p>
            <a:r>
              <a:t>Data Ingestion</a:t>
            </a:r>
          </a:p>
          <a:p>
            <a:r>
              <a:t>GPS coordinates, trip requests, and user interactions stream via Kafka in &lt;10ms.</a:t>
            </a:r>
          </a:p>
          <a:p>
            <a:r>
              <a:t>Feature Engineering</a:t>
            </a:r>
          </a:p>
          <a:p>
            <a:r>
              <a:t>Real-time &amp; historical features (location, weather, user patterns) are extracted and computed.</a:t>
            </a:r>
          </a:p>
          <a:p>
            <a:r>
              <a:t>Model Inference</a:t>
            </a:r>
          </a:p>
          <a:p>
            <a:r>
              <a:t>Models predict demand, calculate ETAs, detect fraud, and match drivers instantly.</a:t>
            </a:r>
          </a:p>
          <a:p>
            <a:r>
              <a:t>Decision Making</a:t>
            </a:r>
          </a:p>
          <a:p>
            <a:r>
              <a:t>Predictions combine with business rules and A/B tests to generate real-time actions.</a:t>
            </a:r>
          </a:p>
          <a:p>
            <a:r>
              <a:t>Feedback Loop</a:t>
            </a:r>
          </a:p>
          <a:p>
            <a:r>
              <a:t>Actual outcomes (trip completion, satisfaction) feed back for continuous model improvement.</a:t>
            </a:r>
          </a:p>
          <a:p>
            <a:r>
              <a:t>Key ML Use Cases &amp; Technologies</a:t>
            </a:r>
          </a:p>
          <a:p/>
          <a:p>
            <a:r>
              <a:t>Demand Forecasting</a:t>
            </a:r>
          </a:p>
          <a:p>
            <a:r>
              <a:t>Tech: Time series (LSTM, Prophet), XGBoost</a:t>
            </a:r>
          </a:p>
          <a:p>
            <a:r>
              <a:t>Output: Predicted demand by location &amp; time</a:t>
            </a:r>
          </a:p>
          <a:p>
            <a:r>
              <a:t>Latency: &lt;100ms</a:t>
            </a:r>
          </a:p>
          <a:p/>
          <a:p>
            <a:r>
              <a:t>Dynamic Pricing (Surge)</a:t>
            </a:r>
          </a:p>
          <a:p>
            <a:r>
              <a:t>Tech: Reinforcement learning, gradient boosting</a:t>
            </a:r>
          </a:p>
          <a:p>
            <a:r>
              <a:t>Output: Optimal pricing multiplier by hexagon</a:t>
            </a:r>
          </a:p>
          <a:p>
            <a:r>
              <a:t>Latency: &lt;50ms</a:t>
            </a:r>
          </a:p>
          <a:p/>
          <a:p>
            <a:r>
              <a:t>Driver-Rider Matching</a:t>
            </a:r>
          </a:p>
          <a:p>
            <a:r>
              <a:t>Tech: Optimization algorithms, deep learning</a:t>
            </a:r>
          </a:p>
          <a:p>
            <a:r>
              <a:t>Output: Optimal driver assignment</a:t>
            </a:r>
          </a:p>
          <a:p>
            <a:r>
              <a:t>Latency: &lt;200ms</a:t>
            </a:r>
          </a:p>
          <a:p/>
          <a:p>
            <a:r>
              <a:t>ETA Prediction</a:t>
            </a:r>
          </a:p>
          <a:p>
            <a:r>
              <a:t>Tech: Deep Neural Networks, Graph Neural Networks</a:t>
            </a:r>
          </a:p>
          <a:p>
            <a:r>
              <a:t>Output: Accurate arrival time estimates</a:t>
            </a:r>
          </a:p>
          <a:p>
            <a:r>
              <a:t>Latency: &lt;100ms</a:t>
            </a:r>
          </a:p>
          <a:p/>
          <a:p>
            <a:r>
              <a:t>Fraud Detection</a:t>
            </a:r>
          </a:p>
          <a:p>
            <a:r>
              <a:t>Tech: Anomaly detection, ensemble methods</a:t>
            </a:r>
          </a:p>
          <a:p>
            <a:r>
              <a:t>Output: Fraud probability scores</a:t>
            </a:r>
          </a:p>
          <a:p>
            <a:r>
              <a:t>Latency: &lt;10ms</a:t>
            </a:r>
          </a:p>
          <a:p>
            <a:r>
              <a:t>ML Infrastructure &amp; Technologies</a:t>
            </a:r>
          </a:p>
          <a:p>
            <a:r>
              <a:t>Training Infrastructure</a:t>
            </a:r>
          </a:p>
          <a:p>
            <a:r>
              <a:t>Apache Spark: Distributed data processing</a:t>
            </a:r>
          </a:p>
          <a:p>
            <a:r>
              <a:t>Horovod: Distributed deep learning</a:t>
            </a:r>
          </a:p>
          <a:p>
            <a:r>
              <a:t>TensorFlow/PyTorch: Deep learning frameworks</a:t>
            </a:r>
          </a:p>
          <a:p>
            <a:r>
              <a:t>Kubernetes: Container orchestration</a:t>
            </a:r>
          </a:p>
          <a:p>
            <a:r>
              <a:t>Serving Infrastructure</a:t>
            </a:r>
          </a:p>
          <a:p>
            <a:r>
              <a:t>TensorFlow Serving: High-performance inference</a:t>
            </a:r>
          </a:p>
          <a:p>
            <a:r>
              <a:t>ONNX Runtime: Cross-platform inference</a:t>
            </a:r>
          </a:p>
          <a:p>
            <a:r>
              <a:t>Redis: Feature caching for low-latency</a:t>
            </a:r>
          </a:p>
          <a:p>
            <a:r>
              <a:t>Load balancers: Distribute requests</a:t>
            </a:r>
          </a:p>
          <a:p>
            <a:r>
              <a:t>Feature Store</a:t>
            </a:r>
          </a:p>
          <a:p>
            <a:r>
              <a:t>Online store (Redis/Cassandra): Real-time serving</a:t>
            </a:r>
          </a:p>
          <a:p>
            <a:r>
              <a:t>Offline store (Hive/S3): Historical features</a:t>
            </a:r>
          </a:p>
          <a:p>
            <a:r>
              <a:t>Feature pipelines: Automated computation</a:t>
            </a:r>
          </a:p>
          <a:p>
            <a:r>
              <a:t>Feature monitoring: Quality &amp; drift detection</a:t>
            </a:r>
          </a:p>
          <a:p>
            <a:r>
              <a:t>Experimentation Platform</a:t>
            </a:r>
          </a:p>
          <a:p>
            <a:r>
              <a:t>A/B testing framework: Compare model versions</a:t>
            </a:r>
          </a:p>
          <a:p>
            <a:r>
              <a:t>Statistical analysis: Measure model impact</a:t>
            </a:r>
          </a:p>
          <a:p>
            <a:r>
              <a:t>Gradual rollouts: Safe model deployment</a:t>
            </a:r>
          </a:p>
          <a:p>
            <a:r>
              <a:t>Real-World Performance Metrics</a:t>
            </a:r>
          </a:p>
          <a:p>
            <a:r>
              <a:t>1000+</a:t>
            </a:r>
          </a:p>
          <a:p>
            <a:r>
              <a:t>Models in Production</a:t>
            </a:r>
          </a:p>
          <a:p>
            <a:r>
              <a:t>Continuously learning and optimizing operations.</a:t>
            </a:r>
          </a:p>
          <a:p>
            <a:r>
              <a:t>100M+</a:t>
            </a:r>
          </a:p>
          <a:p>
            <a:r>
              <a:t>Predictions per Second</a:t>
            </a:r>
          </a:p>
          <a:p>
            <a:r>
              <a:t>Handling peak demand globally with ease.</a:t>
            </a:r>
          </a:p>
          <a:p>
            <a:r>
              <a:t>&lt;100ms</a:t>
            </a:r>
          </a:p>
          <a:p>
            <a:r>
              <a:t>Inference Latency</a:t>
            </a:r>
          </a:p>
          <a:p>
            <a:r>
              <a:t>95th percentile for lightning-fast decision making.</a:t>
            </a:r>
          </a:p>
          <a:p>
            <a:r>
              <a:t>&lt;10ms</a:t>
            </a:r>
          </a:p>
          <a:p>
            <a:r>
              <a:t>Feature Serving Latency</a:t>
            </a:r>
          </a:p>
          <a:p>
            <a:r>
              <a:t>Instant access to up-to-date data for models.</a:t>
            </a:r>
          </a:p>
          <a:p>
            <a:r>
              <a:t>ML Data Flow Example: Surge Pricing Decision</a:t>
            </a:r>
          </a:p>
          <a:p>
            <a:r>
              <a:t>01</a:t>
            </a:r>
          </a:p>
          <a:p/>
          <a:p>
            <a:r>
              <a:t>Trip Request Initiated</a:t>
            </a:r>
          </a:p>
          <a:p>
            <a:r>
              <a:t>Rider opens app, GPS coordinates extracted, trip request sent.</a:t>
            </a:r>
          </a:p>
          <a:p>
            <a:r>
              <a:t>02</a:t>
            </a:r>
          </a:p>
          <a:p/>
          <a:p>
            <a:r>
              <a:t>Feature Generation</a:t>
            </a:r>
          </a:p>
          <a:p>
            <a:r>
              <a:t>Real-time features (current demand, driver availability) &amp; historical features (past demand patterns, events) are retrieved.</a:t>
            </a:r>
          </a:p>
          <a:p>
            <a:r>
              <a:t>03</a:t>
            </a:r>
          </a:p>
          <a:p/>
          <a:p>
            <a:r>
              <a:t>Prediction Models Run</a:t>
            </a:r>
          </a:p>
          <a:p>
            <a:r>
              <a:t>Demand prediction model runs, identifying high demand in specific areas.</a:t>
            </a:r>
          </a:p>
          <a:p>
            <a:r>
              <a:t>04</a:t>
            </a:r>
          </a:p>
          <a:p/>
          <a:p>
            <a:r>
              <a:t>Pricing Decision</a:t>
            </a:r>
          </a:p>
          <a:p>
            <a:r>
              <a:t>Pricing model calculates optimal surge multiplier (e.g., "1.5x surge") and business rules are applied to specific hexagons.</a:t>
            </a:r>
          </a:p>
          <a:p>
            <a:r>
              <a:t>05</a:t>
            </a:r>
          </a:p>
          <a:p/>
          <a:p>
            <a:r>
              <a:t>Decision Dissemination &amp; Feedback</a:t>
            </a:r>
          </a:p>
          <a:p>
            <a:r>
              <a:t>Decision sent to rider app ("Surge pricing in effect"), outcome tracked ("Trip completed"), and feedback feeds back to models for continuous learning.</a:t>
            </a:r>
          </a:p>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